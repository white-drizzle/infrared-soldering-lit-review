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 Energies 综述——布达佩斯理工团队梳理再流焊数值建模的全部方法：四大工艺怎么加热、五组 PDE 怎么描述、FDM/FEM/FVM 怎么选、热机械应力怎么算、机器学习怎么用。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先交代出处：MDPI 的 Energies 期刊，SCIE Q3、IF 3.9、EI 收录；三位作者来自匈牙利布达佩斯理工大学与波兰卢卡谢维奇网络。关键词已经剧透全文主线：传热建模、热机械可靠性、机器学习。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汇报脉络：先讲再流焊是什么、为什么值得建模；再给数学基座（方程+数值方法）；然后按四大工艺逐个讲传热建模；接着讲热机械可靠性；最后是机器学习优化与全文结论。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背景铺垫：再流焊是 SMT 的主连接工艺——钢网印焊膏、贴片、整板加热到焊料熔化。缺陷根因常在材料或工艺参数，传统靠试错，数值建模能把机理看清。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数学基座第一组：导热用傅里叶方程（式 1），含对流项和体积热源 Q；湿气扩散用菲克方程（式 2），界面不连续用湿饱和度归一化（式 3），扩散系数随温度按 Arrhenius 指数上升。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第二组方程：Navier–Stokes 描述气流与熔融焊料流动（式 4）；热弹性本构把温差、湿差变成应变（式 6、7），CTE 失配是热应力根源；von Mises 应力（式 8）用来找开裂敏感位置。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三种离散方法对比：FDM 公式简单、多方程耦合灵活，但怕非矩形几何；FEM 用单元网格+形函数，复杂几何精度高；FVM 对流体最稳。再流焊的规律：传热+应力用 FEM，炉内气流用 FVM/FDM。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激光钎焊建模：热源是表面高斯分布、沿深度按 Lambert–Beer 指数衰减（式 9）。案例一：翻转芯片 100 微米光斑，热只限在焊膏和焊盘；案例二：IMC 生长建模，热方程耦合流动与扩散，SAC 低熔点合金对流更强、IMC 长得更快。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红外炉建模：3D FVM 全炉仿真，辐射传递用 DO 法、湍流用 RANS 平均。结论：考虑辐射比纯对流多升温 40–50°C，风速越低辐射越主导——忽略辐射会严重低估升温。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强制对流建模：牛顿冷却定律（式 10、11），换热系数 h 由热电偶瞬态反推；有红外成分要加面-面辐射（式 12）。Bi&lt;0.1 时可用集总模型（式 13），但设定温度不代表元件温度，沿厚度集总成 2D 板更真实。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FC 炉案例：简化路线是 2D 热阻容网络（Bi 数论证），适合参数优化；复杂路线是 3D 全炉气流+温度联合仿真。要点：扁平封装不影响流场，电解电容引起湍流降换热；遮蔽效应和涡流让局部传热下降，低速传送更均匀但有过热风险。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气相钎焊：靠冷凝膜潜热加热，均匀且防氧化，但炉内恶劣无法直接测量，换热系数要用逆传热问题反演。h 前 2 秒突降后缓升、与液层厚度成反比。VPS 没有现成仿真模块，FDM 手动耦合就够。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热机械仿真总览：CTE 失配加约束就是热应力的来源。板级看翘曲，元件级看界面分层和爆米花效应。多数研究预设均匀温度场降算力——慢升温下合理，VPS 这种高热载工艺得算全瞬态。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板级案例三连：多层板理论预测 PCB 曲率，假铜图形和厚树脂层能抑翘曲；SiP 模块用 Anand 粘塑性模型，应力峰值在最外对角焊球根部；IGBT 模块残余应力在陶瓷板，减薄陶瓷或预翘曲铜基底可降应力。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元件级第一站：爆米花效应。塑封件吸湿，回流时蒸气压积聚把界面顶开。QFP 2D FEM + MVCCT 算能量释放率：低模量 EMC 热应力低、低 CME 湿应力低；而且 CTE 热应变只占释放率 40–50%，湿气路径不能忽略。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元件级第二站：BGA 焊球。两级建模——外层 RANS+FVM 算气流换热，内层 FEM 子模型算焊球应力，最大有效应力在焊球根部。冷却速率两难：慢冷晶粒粗疲劳弱，快冷应力高易开裂。入口流速是影响最大的参数。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建模方法还能跨界：食品烘烤炉用同一套 PDE，差别是湿气蒸发主导；钢网印刷（pin-in-paste）是焊接缺陷的主要来源，速度、力、刮刀、孔径、回流曲线都能建模优化。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软计算部分：神经网络从数据学行为、遗传算法按适应度进化，都不需要 PDE。BPNN+GA 混合框架效果最好——网络预测温度、GA 反推最优输入，统计误差最低。代价是缺物理洞察、训练耗时。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融合路线：先用 FEM 生成数据集训练 BPNN（输入材料属性和温区曲线，输出峰值温度和液相线以上时间），再用 MOGA 多目标遗传算法在响应面上找最优——秒级评估数万组参数，不用反复上机实验。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讨论章给出一张选型表：激光 2D 就够、红外必须辐射+湍流耦合、强制对流优先集总+实测 h、气相 FDM 手动耦合、热机械 FEM 线弹性起步、裂纹要断裂力学模块。共性技巧是沿对称轴切半降算力。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收尾：PDE 数值建模是成熟主线，但求解要秒到天；ANN 毫秒级。综述的展望很明确——用 PDE 仿真结果训练代理模型，既保物理精度又满足工业在线优化，还不干扰产线。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再流焊应用数值建模方法综述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Overview of Different Approaches in Numerical Modelling of Reflow Soldering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四大工艺 × 五组 PDE × 三大离散方法：一册读懂再流焊数值建模的方法学全貌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综述精读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Energies 2023 · DOI 10.3390/en16165856 ·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双语标题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再流焊应用数值建模方法综述 / Overview of Different Approaches in Numerical Modelling of Reflow Soldering Applications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综述论文：方法学总纲 + 76 篇文献地图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文献信息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Energies（MDPI）· SCIE Q3 · IF 3.9 · EI · 2023 年 16(16), 5856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10.3390/en16165856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作者与机构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István Bozsóki（通讯）· Attila Géczy · Balázs Illés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布达佩斯理工大学（匈牙利）· 卢卡谢维奇网络（波兰）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再流焊技术 · 数值建模 · 热机械应力 · 传热 · 机器学习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覆盖传热 → 可靠性 → 数据驱动三大主线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0533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806440"/>
            <a:ext cx="30533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Energies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Energies,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工艺与动机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四大再流工艺与数值建模的价值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4696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数学基座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五组 PDE 与 FDM/FEM/FVM 三大离散方法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3944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分工艺传热建模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激光 / 红外 / 强制对流 / 气相钎焊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热机械仿真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板级翘曲与元件级界面分层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2440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软计算方法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ANN / GA 代理建模与混合优化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1688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06 · 讨论与结论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建模选型指南与 PDE+ML 融合展望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1 · 工艺与动机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再流焊：SMT 的主连接技术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四大再流工艺按传热方式区分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红外（IR）、强制对流（FC）、气相（VPS）为主流；激光用于局部焊接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工艺不同 → 传热机制不同 → 建模路径不同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缺陷根因藏在材料属性与工艺参数里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传统靠试验试错优化参数，成本高且难覆盖机理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数值建模可系统识别并消除根因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SMT：表面贴装技术：元件直接贴装在 PCB 表面再整体加热焊接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助焊剂：焊膏中的活性成分，加热时清除焊盘氧化物，让焊点顺利成形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2 · 数学基座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数学基座①：导热与湿气扩散方程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傅里叶方程描述温度梯度驱动的热传导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ρ·c·∂T/∂t = ∇·(λ∇T) − ρ·c·v·∇T + Q（式 1）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加热既可做体积热源，也可做表面热流边界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菲克方程描述浓度梯度驱动的湿气扩散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∂C/∂t = ∇·(D∇C) − v·∇C（式 2）；塑封件吸湿建模的主要工具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界面不连续用湿饱和度 w=C/C_sat 归一化（式 3）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扩散系数随温度指数上升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Arrhenius 关系 D(T) = D₀·exp(−Ea/RT)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回流高温下吸湿/脱湿速率显著变化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PDE：偏微分方程：用导数描述温度、浓度等物理量随空间与时间的变化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2 · 数学基座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数学基座②：流动、热应力与断裂判据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Navier–Stokes 方程描述不可压缩粘性流动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压力/惯性/粘性/体积力五项平衡（式 4），可耦合热与扩散方程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炉内气流、熔化焊料流动的基础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热弹性方程把温差/湿差转为应变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ε = S:σ + α(T−T₀) + β(C−C₀)（式 6）；小变形位移场（式 7）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CTE 失配是热应力的总根源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von Mises 应力定位开裂/屈服敏感区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σ_VM 由应力张量不变量的畸变应变能导出（式 8）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裂纹扩展用能量释放率 vs 断裂韧性判断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热机械应力：温差 + 不同材料膨胀不同 + 约束共同产生的机械应力，是封装可靠性核心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三大离散方法：FDM / FEM / FVM 怎么选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稳定 + 相容双条件决定收敛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误差随时间步衰减=稳定；网格细化误差降低=相容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材料属性准确性对精度影响同样关键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Galerkin 方法：让加权残差趋于零来定单元参数的有限元离散方式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原理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局限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FDM 有限差分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泰勒级数近似差分算子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易推导易编程、多 PDE 耦合灵活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非矩形几何难、需细网格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FEM 有限元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单元网格 + 形函数加权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复杂几何、低单元数高精度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单元方程数学准备苛刻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FVM 有限体积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控制体积守恒积分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流体动力学更稳定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多用于 CFD 场景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商用平台：Abaqus / ANSYS / Comsol；开源：Elmer / FreeFEM / OpenFOAM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3 · 分工艺传热建模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激光钎焊：局部加热 + 高斯体积源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激光热源建模：表面高斯 + 深度指数衰减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Q = α·I(x,y,t)·e^(−αz)（式 9）：吸收系数 α 沿深度衰减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可穿透透明基板/元件本体加热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案例：翻转芯片 100 µm 光斑 3D FEM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0.8 mm 银-玻璃基板；受热区仅限焊膏与焊盘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热影响区严格局部化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IMC 生长建模：热-流动-扩散耦合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3D FEM：热方程 + NS + Cu 扩散；潜热按等效热容计入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SAC 熔点低 → 对流强 → IMC 生长快（脆性风险）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IMC：金属间化合物：焊盘与熔融焊料界面生成的脆性化合物层，过度生长会脆断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3 · 分工艺传热建模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红外再流焊：辐射传递 + 湍流耦合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辐射传递用 DO 法、湍流用 RANS 平均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RANS + K-epsilon 避免湍流数值不稳定；DO 解辐射传递方程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低风速弱湍流时辐射是主导热源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辐射 vs 纯对流：升温差 40–50°C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台式红外炉 3D FVM 仿真（文献 [4,29]）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忽略辐射将显著低估升温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图例：红外热源与气流箭头标示传热路径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图意：红外辐射加热 + 强制对流均匀化——两者必须耦合建模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DO 法：离散坐标法：把辐射传递方程沿有限方向离散求解</a:t>
            </a:r>
          </a:p>
        </p:txBody>
      </p:sp>
      <p:pic>
        <p:nvPicPr>
          <p:cNvPr id="5" name="Picture 4" descr="1120dcd4dd5fb65afa998ba1df5299aff9d3407989ac87a58961f0c724cdbe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614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5031815"/>
            <a:ext cx="4480560" cy="1826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对流式红外炉内的流动与辐射机制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解读：红外辐射与强制气流共同加热——辐射-对流耦合是红外炉建模的核心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Energies,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3 · 分工艺传热建模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强制对流：牛顿冷却 + 集总模型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牛顿冷却定律给出表面换热功率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P = h·A·(TF−TS)（式 10），可改写为对流边界条件（式 11）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h 是关键输入：可由热电偶瞬态反推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含红外成分时补面-面辐射项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灰体漫表面辐射边界含发射率与视角因子（式 12）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辐射 + 对流双源是炉内常态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集总模型 vs 2D 板模型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纯集总设定温度不代表元件温度；沿厚度集总 → 2D 分布板更真实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优化用途快模型足矣，精度场景需 3D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Bi 数：毕渥数：表面换热阻力与内部导热阻力之比，&lt;0.1 视为温度均匀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3 · 分工艺传热建模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FC 炉建模案例：从 RC 网络到全炉 3D 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简化：2D 热阻容网络 + Bi 数论证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温度节点配热质量、节点间热阻；辐射+对流源逐节点定义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参数优化快速迭代的首选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3D 全炉：气流 + 温度联合仿真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喷嘴矩阵鼓风炉 RANS + 2D FVM；BGA/QFP 不影响流场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大体积元件（电解电容）引起湍流 → 局部换热系数下降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遮蔽效应与涡流降低局部传热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大元件遮蔽 + 板运动涡流 → 局部传热下降；低速传送提升均匀性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低速传送有过热风险；氮气 RANS 下长边温差最大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图例：红箭头=加热气流，蓝箭头=冷却气流，数字为温区编号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图意：传送带载 PCB 依次穿过 4–14 个控温区</a:t>
            </a:r>
          </a:p>
        </p:txBody>
      </p:sp>
      <p:pic>
        <p:nvPicPr>
          <p:cNvPr id="5" name="Picture 4" descr="547627d05a0efc66fa1b3fdc677aabb3d5ce86572f63aa0b15977728fa3cae2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15941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3011493"/>
            <a:ext cx="4480560" cy="38465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传送带式强制对流再流焊系统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解读：温区布局与气流循环是 FC 炉建模的物理对象——简化与全仿真都围绕它展开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Energies, 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3 · 分工艺传热建模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气相钎焊：膜状冷凝 + 逆传热反演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膜状冷凝：潜热经液膜传向工件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换热系数基于 Nusselt 膜状冷凝理论；h 前 2 秒突降后缓升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h 与基板热扩散率正相关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测量困难 → 逆传热问题反演 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传感单元埋入样品记录瞬态，按边界热流反推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h 与液层厚度成反比；PCB 持液层比元件厚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3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建模自由度：FDM 可胜任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冷凝层为层流、露点模型自定义驱动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VPS 尚无专用仿真模块，需手动耦合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图例：底部加热器蒸发 Galden 液，PCB 置于蒸气区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图意：冷凝膜在工件表面释放潜热——VPS 换热的物理基础</a:t>
            </a:r>
          </a:p>
        </p:txBody>
      </p:sp>
      <p:pic>
        <p:nvPicPr>
          <p:cNvPr id="5" name="Picture 4" descr="c214e5afc5b67d0486e9cf9a13a3751fc3dc01319e2d0253fd91f292b8a81bf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701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4118674"/>
            <a:ext cx="4480560" cy="2739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气相钎焊炉腔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解读：蒸气-冷凝膜-工件结构决定 VPS 换热机理——逆传热建模的物理背景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3, Energies, 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4 · 热机械仿真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热机械仿真：CTE 失配是应力的总根源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板级：组装体大尺度变形（翘曲）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多层板理论 / 3D FEM；玻璃化转变改变弹性与 CTE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假铜图形 + 增厚树脂层可抑制变形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元件级：CTE 失配 + 湿气 + 蒸气压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焊点/界面应力；吸湿塑封件出现爆米花效应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蒸气压积聚 → 快速裂纹扩展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降算力技巧：常规定温场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多数研究按标准回流曲线预设均匀温度场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慢升温下合理；VPS 等高热载需全瞬态场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CTE：热膨胀系数：单位温度变化对应的材料相对伸长，两种材料失配即产生应力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4 · 热机械仿真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板级翘曲案例：从多层板理论到 IGBT 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多层板理论预测 PCB 曲率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玻璃化转变使弹性降低、CTE 升高；假铜图形+树脂层增厚抑制变形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代价：重量/体积增加、布线需修改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SiP 模块：Anand 粘塑性焊球模型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陶瓷基板 SiP 3D FEM；应力峰值在最外对角焊球根部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翘曲随最大温度升高而增大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IGBT 模块：残余应力在陶瓷板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DBC 陶瓷-铜 CTE 失配；真空腔消除焊料气孔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减薄陶瓷或预翘曲铜基底可降应力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翘曲：板面外弯曲变形：层间 CTE 失配加温度梯度导致，影响焊点可靠性与散热接触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4 · 热机械仿真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元件级：湿气分层与爆米花效应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爆米花效应：蒸气压驱动裂纹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QFP 2D FEM 建模 0.2 mm 界面分层，MVCCT 求能量释放率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低模量 EMC → 低热应力；低 CME → 低湿应力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CTE 热应变只占释放率 40–50%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矮封装释放率与含湿量更高；峰值温度处增长显著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湿气-蒸气路径不可忽略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叠层芯片：底层释放率大于顶层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蒸气压沿法向作用，随裂纹长度增大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裂纹尖端剪切占主导（CTE + CME 失配）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MVCCT：修正虚拟裂纹闭合技术：由节点力与位移计算裂纹的能量释放率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4 · 热机械仿真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元件级：BGA 焊球应力与冷却速率权衡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两级建模：炉内气流 + 焊球子模型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RANS+FVM 算气流与 h，FEM 子模型算 SAC 焊球应力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入口流速影响最大，其次冷却温度/传送速度/PCB 密度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冷却速率两难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慢冷：粗晶粒 + IMC 过度生长 → 疲劳弱；快冷：热应力高 → 开裂/分层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工艺窗口须折中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翻转芯片：凸翘曲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FR4 比硅收缩更多，仅模拟冷却段；QFP 界面应力约束下近三倍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最大有效应力在芯片贴装胶/铜焊盘界面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BGA：球栅阵列封装：焊球成阵列分布在底面，回流时与 PCB 焊盘熔接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5 · 其他建模应用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跨界复用：食品工业与钢网印刷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食品工业：红外 + 强制对流烘烤炉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烘焙/干燥 FEM 建模；主要区别是湿气蒸发主导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多孔介质需加对流/平流项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钢网印刷：pin-in-paste 关键工序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印刷速度/力、刮刀几何、焊膏粘度、钢网孔径、回流曲线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印刷缺陷占焊接失效大头，建模优化价值高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pin-in-paste：插装通孔焊膏印刷：把焊膏压入镀通孔，与贴片同炉回流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6 · 软计算方法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软计算：神经网络 + 遗传算法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ANN：分布式非线性单元网络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通用逼近；训练=迭代误差最小化；预测快几个数量级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平滑插值/外推到未训练工况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GA：自然选择启发的鲁棒优化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变异/交叉/选择算子 + 适应度函数，按代数迭代收敛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回流曲线参数优化主力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组合使用：BPNN + GA 混合框架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神经网络预测 soak/peak 温度，GA 反推最优输入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统计误差最低，优于常规优化法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ANN：人工神经网络：大量简单非线性单元互联，可逼近任意系统行为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物理仿真 + 机器学习：秒级评估数万组参数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物理仿真和机器学习怎么结合？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3D FEM 生成数据集训练 BPNN：输入材料属性+温区曲线，输出峰值温度与液相线以上时间；MOGA 走响应面做多目标优化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秒级评估数万组参数，不干扰产线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代理模型：用机器学习逼近昂贵仿真的廉价替代品，训练后瞬间出结果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讨论：按问题选方法的实用指南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快模型优先：集总/2D 用于参数优化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设定温度不代表元件温度，须说明局限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低 h 均匀加热场景才适用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3319272"/>
                <a:gridCol w="5532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工艺/问题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推荐方法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关键要点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激光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FDM / FEM / FVM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2D 足够；熔焊流动用 FVM；潜热必计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红外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DO 辐射 + RANS 湍流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湍流时选 FVM 保稳定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强制对流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集总 / 2D + 实测 h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h 尽量测量，公式限简单情形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气相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FDM 手动耦合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无专用模块；冷凝层为层流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热机械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FEM（2D 线弹性可）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残余应力需塑性/粘塑性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裂纹分析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FEM + 断裂力学模块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裂纹区精网格 + 高阶元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共性经验：沿对称轴切割做结构缩减，可大幅降低算力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结论：PDE 成熟可靠，ML 融合是方向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综述给出的核心判断是什么？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PDE 建模成熟可靠；PDE 求解秒到天级、ANN 毫秒级——用仿真结果训练代理模型，满足工业在线快速优化需求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物理保真 + 数据提速，两者互补而非替代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展望：SiP 等高集成封装、VPS 成熟化、高热载工艺的全瞬态温度场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