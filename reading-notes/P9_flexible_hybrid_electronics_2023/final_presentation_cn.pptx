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 Advanced Electronic Materials 2023 年的工作——用近红外辐射给柔性混合电子（FHE）做选择性焊接。核心卖点：只加热焊料不加热基板，焊点剪切力 12–14 N、弯曲 1000 次不断，还做了一个无线伤口渗出液监测传感器做概念验证。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先把论文出处交代清楚：Wiley 的 Advanced Electronic Materials，SCIE Q1、中科院 3 区、IF 5.9、EI 收录，普渡大学与福特汽车合作团队。右侧是期刊封面。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汇报脉络：先讲柔性混合电子的焊接困境（传统回流焊会烫坏基板），再讲 NIR 选择性加热的原理和工艺设计，核心是暴露时间窗口的筛选，用界面表征、剪切、弯曲、湿热四路证据证明 MET 窗口最优，最后收在无线传感器概念验证。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背景：柔性电子市场 2017 年 292.8 亿美元、2027 年预计 11.1% 年增长。FHE 要兼顾硅基性能与柔性，但传统回流焊整体加热 200°C 以上，PET 基板 Tg 只有 85–87°C，焊料还没化基板先变形。这就是本文要解决的问题。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全文的物理支点：NIR 波段下 PET 几乎透明，而金属焊料和银浆强烈吸收。所以辐射能量被选择性沉积到金属上——焊料化了，基板还是凉的。注意 PET 熔融温度 250°C 远高于焊膏熔点 140°C，只要热输入有选择性，就存在'焊料熔化但基板不软化'的工艺窗口。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这张图交代全流程：银浆丝网印刷、NIR 干燥、点胶、贴装、NIR 焊接、点亮。右边是实物：2×3 的 LED 阵列在弯曲和扭曲状态下亮度不变，证明焊点电气连接可靠。(b) 面板四个状态是同一块电路。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材料：Sn-Bi-Ag 低温焊膏熔点只有 140°C，银浆丝印到 PET 上。测温用热电偶直连电脑，在 2–6 kW、1–3 m/min 的矩阵里系统扫了 30 个条件。这套数据后面用来筛工艺窗口。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矩阵扫描的结果：峰值温度随功率升、随速度降，30 个组合里只有 5 个达到 140°C 熔点。这 5 个条件就是候选工艺窗口。注意 MD 图注称此面板为热图，实际是折线图，已按图内容描述。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重点：5 个达标条件里选了 3 个代表——LET 5 秒、MET 25 秒、HET 40 秒。注意 MET 用的功率反而最低（4 kW），只是速度慢（1 m/min）。这告诉我们对工艺起决定作用的是暴露时间，不是功率本身。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三张焊后形貌：LET 欠热颗粒残留、MET 铺展良好、HET 中央孔洞——银线路溶解损伤。机制：熔融 Sn-Bi 对 Ag 溶解度很高，长时间高温让 Ag 大量扩散进焊料形成 Ag-Sn IMC，留下孔洞。工艺优化的核心就是'刚好够'的热量。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读图口诀：C 红还在 = 助焊剂残留；Sn 绿全覆盖且 C 消失 = 焊接成功；Ag 断开 = 线路溶解损坏。MET 列正是'成功'的样子——界面被 Sn 覆盖、C 完全消失、银线只溶解了数微米形成 Ag₃Sn IMC。这是冶金结合的直接证据。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剪切测试按 IEC 62137-1-2:2007 做。关键看失效位置：LET 断在焊料内部（根本没焊上）、MET 断在银线-PET 界面（焊点完好）、HET 弱连接。MET 的失效模式意味着焊点强度超过了线路附着力，实际焊点强度应大于 14 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数值对比一目了然：MET 12.1 N，LET 和 HET 都不到 2 N。更重要的是 MET 断在银线-PET 界面，说明焊点本身超过 14 N，跟传统对流回流焊文献水平相当——NIR 焊接机械强度不输传统工艺，还保住了基板。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可靠性三组对比：MET 拉伸压缩各 1000 次电阻几乎不变，LET/HET 不到 100 次就断。湿热测试 70°C、100%RH 七天，MET 和 HET 没变化，LET 第三天就断了——因为助焊剂残留脆化。焊点冶金结合是可靠性的根本。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收尾前的应用演示：一块全印刷的 FM 发射传感器，叉指电容既是振荡元件又是传感元件。渗液让介电常数变大、电容变大、频率下降——0 到 140 μL 线性，灵敏度 3.64 kHz/μL。弯曲状态下频率无偏移，再次证明 NIR 焊点抗弯可靠。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收尾三句话：物理上——NIR 选择性加热让'焊料熔化、基板低温'成为可能；工艺上——暴露时间而非功率密度决定结果，MET 25 秒是最优窗口；证据上——剪切 12.1 N、弯曲 1000 次、湿热 7 天，外加无线传感器概念验证。展望：NIR 焊接可作为 FHE 高通量制造的替代方案。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近红外辐射辅助焊接
用于柔性混合电子（FHE）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Flexible Hybrid Electronics via Near-Infrared Radiation-Assisted Soldering of SMD on Screen Printed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利用 NIR 选择性加热：焊料熔化（&gt;140°C）而 PET 基板低温——剪切强度 12–14 N、1000 次弯曲无失效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单篇精读（Adv. Electron. Mater. 2023）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Advanced Electronic Materials 2023  ·  DOI 10.1002/aelm.202201012  ·  汇报日期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中文标题：近红外辐射辅助焊接用于柔性混合电子（FHE）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英文标题：Flexible Hybrid Electronics via Near-Infrared Radiation-Assisted Soldering of SMD on Screen Printed Circuits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期刊与分区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Advanced Electronic Materials（Wiley 出版社）· 2023 年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SCIE Q1 · 中科院 3 区 · IF 5.9 · EI · CiteScore 9.9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作者团队（Purdue / Ford）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Venkat Kasi · Amin Zareei · Sarath Gopalakrishnan · Babak Arfaei 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Purdue University / Ford Motor Company · DOI: 10.1002/aelm.202201012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近红外辐射 NIR · 柔性混合电子 FHE · 选择性加热 · 表面贴装元件 SMD · 低温焊膏 · 银导电油墨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→ 柔性电子低温焊接新路径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188554" cy="418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605272"/>
            <a:ext cx="318855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Advanced Electronic Materials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Advanced Electronic Materials,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背景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FHE 焊接困境：传统回流焊伤基板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33748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原理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NIR 选择性加热的物理基础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13017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工艺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全印刷六步流水线与功率×速度矩阵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92285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窗口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温度矩阵筛选出 LET/MET/HET 三个代表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71554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界面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焊料铺展、IMC 界面与剪切强度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50822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06 · 可靠性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弯曲循环与高温高湿环境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30091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07 · 验证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无线伤口渗出液监测传感器与结论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FHE 焊接困境：基板扛不住回流焊高温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常规回流焊整体加热 &gt;200°C 约 90–120 s，而 PET 基板 Tg 仅 85–87°C——焊料熔化前基板早已变形</a:t>
            </a:r>
          </a:p>
        </p:txBody>
      </p:sp>
      <p:pic>
        <p:nvPicPr>
          <p:cNvPr id="4" name="Picture 3" descr="a49d36555004fd0215fba3fdaff0b1a71782ee0cc9085e138596736fc1a4ce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888221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4888221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PET 与焊膏的 DSC 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解读：焊膏熔点（140°C）高于 PET 的 Tg（85–87°C）——若热输入不具选择性，基板必先变形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 (a), Adv. Electron. Mater.,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2 (a)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PET 玻璃化转变温度低于焊膏熔点，传统工艺无解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焊膏熔融峰 ~140°C；PET 熔融吸热峰 250°C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传统对流炉使整个器件暴露于 &gt;200°C 约 90–120 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工艺窗口矛盾：140°C（焊料熔化）&gt; 87°C（基板软化）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坐标轴：DSC 曲线：横轴温度（°C），纵轴热流（DSC 信号）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图例：PET 曲线标注 Tg 与 250°C 熔融峰；焊膏曲线标注 140°C 熔融峰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图意：PET 在 85–87°C 即进入玻璃化转变，远低于焊料熔化所需温度——这就是 FHE 不能用对流炉的原因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FHE：柔性混合电子：把硅基 SMD 元件集成到印刷柔性电路上，兼顾性能与柔性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Tg：玻璃化转变温度：聚合物从玻璃态变橡胶态的温度，超过后基板变形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核心原理：NIR 选择性加热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NIR（0.7–1.4 μm）波段下金属与聚合物吸收率天差地别——能量只沉积在需要熔化的焊料上</a:t>
            </a:r>
          </a:p>
        </p:txBody>
      </p:sp>
      <p:pic>
        <p:nvPicPr>
          <p:cNvPr id="4" name="Picture 3" descr="5485c789e1ee541256149acec4880da57af1be730a78410b569b25b96a0191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945843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4945843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PET、焊膏、银线路透射光谱与 NIR 发射器能量谱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解读：吸收率差异使'焊料熔化 + 基板低温'成为可能——与传统对流炉'整体加热'本质不同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 (b), Adv. Electron. Mater.,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2 (b)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金属强烈吸收 NIR，聚合物几乎透明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焊料合金（Sn/Bi/Ag）与银浆（Ag）吸收率极高；PET/PEN 在该波段几乎不吸收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选择性沉积：焊料升温熔化，基板保持低温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坐标轴：横轴波长（μm），纵轴透射率与发射器能量强度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图例：PET 透射曲线接近 100%；焊膏与银线路几乎为 0；NIR 发射器能量谱集中在 0.7–1.4 μm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图意：发射器能量落在金属高吸收、聚合物高透射的波段——选择性加热的光学基础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NIR：近红外辐射：波长 0.7–1.4 μm，红外光谱中能量密度最高的波段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选择性加热：利用材料吸收率差异，只加热目标材料而不加热周围材料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全印刷 + NIR 焊接：六步流水线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丝网印刷→NIR 干燥→点胶→贴装→NIR 焊接→点亮，FHE 制造全流程在柔性 PET 上完成</a:t>
            </a:r>
          </a:p>
        </p:txBody>
      </p:sp>
      <p:pic>
        <p:nvPicPr>
          <p:cNvPr id="4" name="Picture 3" descr="758dec4432c14eb224a39477bd35593773e46b7836ee0aa9639a962e3b886e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096661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3096661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全 NIR 工艺制造 FHE 流程图与弯曲点亮演示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解读：从印刷到点亮全流程走通，且焊点在弯曲下稳定——工艺可落地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Adv. Electron. Mater.,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六步全流程兼容卷对卷连续制造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(i) 丝印银浆 → (ii) NIR 干燥 → (iii) 点胶锡膏 → (iv) 贴装 SMD → (v) NIR 焊接 → (vi) 通电点亮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弯曲、扭曲状态下 LED 亮度不变——NIR 焊点电气可靠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图例：（a）工艺流程六步（i–vi）及材料微观状态插图；（b）实物照片：未通电 / 点亮 / 弯曲 / 扭曲四种状态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图意：NIR 焊接的 2×3 LED 阵列在弯曲下照常点亮——柔性制造路线可行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SMD：表面贴装元件：直接贴装到电路表面的封装元件（LED、电阻等）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实验方法：低温焊膏 + 功率×速度矩阵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3 (a)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Sn42/Bi57.6/Ag0.4 低温焊膏，熔点 ~140°C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银浆（DuPont 5025）丝印至 PET 平均厚 10 μm；干燥 2 kW+1 m/min、固化 4 kW+1 m/min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方阻 12–15 mΩ/sq/mil，导电性满足电路要求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热电偶直接测焊膏表面温度曲线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NIR 功率 2–6 kW × 传送带速度 1–3 m/min，共 30 个条件；点胶机器人 3 mm 点状涂布锡膏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建立温度曲线数据库，为工艺窗口筛选提供依据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低温焊膏：Sn-Bi-Ag 合金，熔点 ~140°C，低于常规 Sn-Ag-Cu 焊料（~217°C）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图例：标注 NIR Radiation / Sample / Thermocouple sensor / Stationary Stage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图意：热电偶接触样品表面，实时记录焊膏经历的温度曲线</a:t>
            </a:r>
          </a:p>
        </p:txBody>
      </p:sp>
      <p:pic>
        <p:nvPicPr>
          <p:cNvPr id="4" name="Picture 3" descr="a782d2357d3d59bc8ea415e5e53e7afe105b1815111e09a0aec46e2151f3564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388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805652"/>
            <a:ext cx="4480560" cy="20523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热电偶测温装置示意图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解读：系统测温是筛选工艺窗口的前提——每个功率×速度组合都留下温度曲线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 (a), Adv. Electron. Mater., 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工艺窗口①：30 个条件只有 5 个够热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功率×速度全矩阵中仅 5 个组合的峰值温度达到焊膏熔点 140°C</a:t>
            </a:r>
          </a:p>
        </p:txBody>
      </p:sp>
      <p:pic>
        <p:nvPicPr>
          <p:cNvPr id="4" name="Picture 3" descr="978ae9f717e55fc178fd0c7ed5b54fc4defe89aa40733c3470b58be9bed823f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973088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973088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峰值温度 vs NIR 功率（5 种传送带速度）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解读：矩阵扫描表明功率与速度共同决定峰值温度，只有 5 个条件够热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 (g), Adv. Electron. Mater.,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3 (g)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峰值温度两条规律：功率↑则更热、速度↑则更凉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固定速度下功率 2→6 kW，峰值温度单调上升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固定功率下速度 1→3 m/min，曝光时间缩短、峰值温度下降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达标条件仅 5/30；峰值温度范围约 50–200°C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Power（kW，2–6），纵轴峰值温度（°C，约 50–200）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图例：5 条曲线 = 1 / 1.5 / 2 / 2.5 / 3 m/min；橙色虚线 = 焊料熔点 ~140°C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图意：同速下功率越高峰值温度越高；同功率下速度越快越不热——只有少数组合越过熔点线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工艺窗口：能满足焊接要求的工艺参数范围（功率、速度、暴露时间）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工艺窗口②：暴露时间才是主控参数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7132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8B3A3A"/>
                </a:solidFill>
                <a:latin typeface="Microsoft YaHei"/>
              </a:rPr>
              <a:t>如图 3 (h) 所示，</a:t>
            </a:r>
            <a:r>
              <a:rPr sz="1250" b="1">
                <a:solidFill>
                  <a:srgbClr val="1A1A1A"/>
                </a:solidFill>
                <a:latin typeface="Microsoft YaHei"/>
              </a:rPr>
              <a:t>低功率慢速也能达中等暴露：MET（4 kW·1 m/min）25 s 居中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· LET（6 kW·1.5 m/min）仅 5 s 欠热；HET（6 kW·1 m/min）40 s 过热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· MET 功率最低但速度最慢，仍获 25 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8B3A3A"/>
                </a:solidFill>
                <a:latin typeface="Microsoft YaHei"/>
              </a:rPr>
              <a:t>选 3 代表：LET 5 s → MET 25 s → HET 40 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坐标轴：纵轴 &gt;140°C 暴露时间（s）；横轴 5 个达标条件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图例：蓝色柱 + 误差棒，柱上标 LET/MET/HET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图意：P4S1 暴露 25 s 居中——功率并非唯一决定因素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17520"/>
          <a:ext cx="7132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1426464"/>
                <a:gridCol w="1426464"/>
                <a:gridCol w="1426464"/>
                <a:gridCol w="142646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功率 (kW)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速度 (m/min)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&gt;140°C 暴露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分类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P4S1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25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MET（中暴露）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P5S1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40 s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选中（未深入测试）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P6S1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40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HET（高暴露）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P5S1.5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1.5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5 s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选中（未深入测试）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P6S1.5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1.5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5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LET（低暴露）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7132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暴露时间直接决定焊料在液态停留的时间，进而影响铺展与 IMC 生长——后续三组系统研究以此为变量</a:t>
            </a:r>
          </a:p>
        </p:txBody>
      </p:sp>
      <p:pic>
        <p:nvPicPr>
          <p:cNvPr id="6" name="Picture 5" descr="c98a304e64c9a4cb164619ea264f00507c4ec49f559918fa202f6ed06a5bb4b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3657600" cy="28692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4286543"/>
            <a:ext cx="3657600" cy="25714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五个达标条件的 &gt;140°C 暴露时间对比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解读：MET 功率低于 LET/HET 但暴露时间居中——热输入总量而非功率密度决定工艺结果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 (h), Adv. Electron. Mater.,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焊料铺展与银线路损伤：三种暴露结局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4 (d–f)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暴露时间直接决定铺展与线路健康：MET 最优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LET 5 s：焊料未完全熔化，球形颗粒残留，助焊剂未排出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MET 25 s：完全熔化铺展、连续金属界面，银线路完整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HET 40 s：银线路大量溶解入焊料，中央形成孔洞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MET = 最优窗口：'刚好够'的热量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图例：（d）LET 焊后；（e）MET 焊后；（f）HET 焊后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图意：（f）中心孔洞是银线路过量溶解的直接证据；MET 形成平整铺展；500 μm 标尺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助焊剂：焊膏中的有机成分：去除氧化层、促进润湿；残留会削弱连接</a:t>
            </a:r>
          </a:p>
        </p:txBody>
      </p:sp>
      <p:pic>
        <p:nvPicPr>
          <p:cNvPr id="4" name="Picture 3" descr="f15e90d0110eccc1a4037d70517641a2d20ec8849287e4bcf8536a39a5910c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65" y="1664208"/>
            <a:ext cx="1846333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89465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(d)</a:t>
            </a:r>
          </a:p>
        </p:txBody>
      </p:sp>
      <p:pic>
        <p:nvPicPr>
          <p:cNvPr id="6" name="Picture 5" descr="0f52018e1fdcc64e7679f19e75626c082b5330fd89878a6e1a13f7d5f28fefc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549" y="1664208"/>
            <a:ext cx="1834548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85549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(e)</a:t>
            </a:r>
          </a:p>
        </p:txBody>
      </p:sp>
      <p:pic>
        <p:nvPicPr>
          <p:cNvPr id="8" name="Picture 7" descr="d621d18cb1ade8a6816263f4ec8c3f2db9b6ce465769b9d587ff1e394b574fb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561" y="3685032"/>
            <a:ext cx="1846333" cy="1618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84561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焊接后焊料表面光学显微镜图像（LET/MET/HET）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(d) LET 焊后：颗粒残留; (e) MET 焊后：平整铺展; (f) HET 焊后：银线溶解孔洞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解读：三组表面形貌差异直接对应热输入不足/恰好/过量的三种结局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 (d–f), Adv. Electron. Mater.,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IMC 界面：SEM/EDX 证明冶金结合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MET 界面被 Sn 完全覆盖、助焊剂（C）消失、银线仅微量溶解——有效冶金结合</a:t>
            </a:r>
          </a:p>
        </p:txBody>
      </p:sp>
      <p:pic>
        <p:nvPicPr>
          <p:cNvPr id="4" name="Picture 3" descr="0383e4b5647700dfe4be755f1ab3f93042ddc9302b9d080629ad87d02be5ce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159838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3159838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焊料-银线路界面截面 SEM 与 EDX 元素分布（12 面板）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解读：助焊剂排出（C 消失）+ Sn 覆盖界面 = 焊接成功的微观信号；HET 列银线溶解断开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5, Adv. Electron. Mater.,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EDX 元素分布揭示三种界面结局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LET：C（红）大量覆盖，Sn 呈球形颗粒——焊料未熔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MET：Sn 全覆盖、C 消失、银线基本完好——洁净冶金界面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HET：Sn 几乎占满，银线路被溶解置换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MET 界面形成数微米厚 Ag-Sn IMC 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图例：C 红 = 助焊剂有机物；Ag 黄绿 = 银线路；Sn 绿 = 焊料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图意：MET 列界面被 Sn 覆盖且 C 消失——助焊剂排出、洁净金属直接接触形成冶金结合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IMC：金属间化合物：两种金属扩散反应形成的界面相（此处 Ag₃Sn），数微米厚为最优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剪切失效模式：MET 焊点比线路还结实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MET 失效发生在银线路-PET 界面而非焊点——焊点冶金强度超过线路附着力</a:t>
            </a:r>
          </a:p>
        </p:txBody>
      </p:sp>
      <p:pic>
        <p:nvPicPr>
          <p:cNvPr id="4" name="Picture 3" descr="88382363081f3ead49fbabcd3cb110fd8d82c2d7e6c972ed168dbade7283d7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231305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6231305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剪切测试前后样品照片（按 IEC 62137-1-2:2007）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解读：失效位置从'焊料内部'到'线路-基板界面'的迁移，证明 MET 焊点冶金结合牢固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 (a–f), Adv. Electron. Mater.,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6 (a–f)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失效位置揭示焊点真实强度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LET：焊料内部断裂（未形成有效连接）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MET：银线路从 PET 剥离，焊点完好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HET：银线路溶解导致弱连接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MET 焊点强度 &gt; 线路-基板附着力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图例：（a–c）剪切前元件完整；（d–f）剪切后状态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图意：MET（e）元件被推离而焊盘界面完好——断口在银线/基板界面，焊点本身未坏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剪切强度：MET 12.1 N，碾压 LET/HET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7132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8B3A3A"/>
                </a:solidFill>
                <a:latin typeface="Microsoft YaHei"/>
              </a:rPr>
              <a:t>如图 6 (h) 所示，</a:t>
            </a:r>
            <a:r>
              <a:rPr sz="1250" b="1">
                <a:solidFill>
                  <a:srgbClr val="1A1A1A"/>
                </a:solidFill>
                <a:latin typeface="Microsoft YaHei"/>
              </a:rPr>
              <a:t>MET 剪切强度与对流回流焊文献水平相当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· 按 IEC 62137-1-2:2007 以 1 mm/s 施加剪切力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· 失效模式与强度数值互相印证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8B3A3A"/>
                </a:solidFill>
                <a:latin typeface="Microsoft YaHei"/>
              </a:rPr>
              <a:t>MET 12.1±1.2 N vs LET 1.81±0.2 N、HET 1.2±0.6 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坐标轴：纵轴峰值剪切力（N，0–14）；横轴 LET / MET / HET 三组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图例：蓝色柱 + 误差棒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图意：MET 柱高约 12 N，LET/HET 均低于 2 N——焊接质量由暴露时间决定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17520"/>
          <a:ext cx="7132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条件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峰值剪切力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失效模式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LET（5 s）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1.81 ± 0.2 N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焊料内部断裂（未有效连接）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MET（25 s）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12.1 ± 1.2 N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银线路从 PET 剥离（焊点完好）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HET（40 s）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1.2 ± 0.6 N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银线路溶解导致的弱连接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7132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MET 实际焊点强度 &gt;14 N（测量受线路附着力限制），与传统对流回流焊文献结果相当</a:t>
            </a:r>
          </a:p>
        </p:txBody>
      </p:sp>
      <p:pic>
        <p:nvPicPr>
          <p:cNvPr id="6" name="Picture 5" descr="2f76c502b41379aea2d9cd2b00062c5ff023439c3b304b45cf268dbfb4b2614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3657600" cy="28059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4223299"/>
            <a:ext cx="3657600" cy="26347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峰值剪切力对比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解读：MET 剪切力比 LET/HET 高一个数量级——NIR 焊接在机械强度上不输传统回流焊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 (h), Adv. Electron. Mater., 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可靠性：1000 次弯曲 + 7 天高温高湿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7 (d,e)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弯曲循环下 MET 焊点电阻稳定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曲率半径 50 mm，拉伸 + 压缩两种模式各 1000 次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LET/HET 两种模式均 &lt;100 次焊点断开、电阻剧增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MET：R/R₀ 全程 ≈1（拉伸与压缩均 1000 次）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坐标轴：横轴 Cycles（对数 1–1000），纵轴 R/R₀（对数刻度）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图例：绿 = LET、红 = MET、蓝 = HET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图意：（d）拉伸、（e）压缩：MET 稳定在 1，LET/HET 在某次循环后垂直跳变——焊点断裂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湿热环境：70°C / 100%RH 加速老化 7 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MET 与 HET 电阻无变化；LET 第 3 天助焊剂脆化导致连接断开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冶金结合焊点环境耐受性良好</a:t>
            </a:r>
          </a:p>
        </p:txBody>
      </p:sp>
      <p:pic>
        <p:nvPicPr>
          <p:cNvPr id="4" name="Picture 3" descr="26223293297b6ce9242c82a73094e8aa7b76d244f50f8efa58b5a5b2156e0c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106" y="1664208"/>
            <a:ext cx="1939242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8106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(d)</a:t>
            </a:r>
          </a:p>
        </p:txBody>
      </p:sp>
      <p:pic>
        <p:nvPicPr>
          <p:cNvPr id="6" name="Picture 5" descr="252158b4ac43dc1c852c3bad1d2146229b2da3cf671c0146119f7e9ecbe0dc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054" y="3685032"/>
            <a:ext cx="1953347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1054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循环弯曲电阻变化曲线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(d) 拉伸模式: MET 1000 次稳定; (e) 压缩模式: MET 1000 次稳定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解读：MET 的冶金结合焊点在两种弯曲模式下都撑过 1000 次——可靠性由焊接质量决定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 (d,e), Adv. Electron. Mater., 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概念验证：无线伤口渗出液监测传感器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8 (e,f)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叉指电容兼作传感与振荡元件：渗液增加频率下降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LC 槽路 f = 1/√(Lc·Cc)，叉指电容 Cc 同时是传感元件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注入 140 μL 模拟渗出液后 RF 峰频移 0.51 MHz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弯曲状态下谐振频率无偏移——焊点抗弯可靠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0–140 μL 线性响应 · 灵敏度 3.64 kHz/μL · &gt;140 μL 饱和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坐标轴：（e）横轴频率（MHz 27.5–28.5），纵轴电压（dB）；（f）横轴渗液体积（μL），纵轴谐振频率（MHz）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图例：（e）红 = 0 μL、蓝 = 140 μL，箭头标频移方向；（f）散点 + 拟合线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图意：注入渗液后谐振峰左移约 0.5 MHz；(f) 0–140 μL 线性下降、之后饱和——检测上限约 140 μL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叉指电容：印刷的梳齿状电容电极：周围介电常数变化 → 电容变化 → 频率变化，实现传感</a:t>
            </a:r>
          </a:p>
        </p:txBody>
      </p:sp>
      <p:pic>
        <p:nvPicPr>
          <p:cNvPr id="4" name="Picture 3" descr="6aba88af57f34fa6172558c6c1afca66e5ff8d62ce63dc8f689314d031dddf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344" y="1664208"/>
            <a:ext cx="2146767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4344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(e)</a:t>
            </a:r>
          </a:p>
        </p:txBody>
      </p:sp>
      <p:pic>
        <p:nvPicPr>
          <p:cNvPr id="6" name="Picture 5" descr="042282b8c1833d7e21727e930b3050c23ecf73b7abeccd105447d5e4352882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130" y="3685032"/>
            <a:ext cx="2161195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27130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无线传感器 RF 响应与标定曲线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(e) 注入 140 μL 前后 RF 频移 0.51 MHz; (f) 谐振频率-渗出液体积标定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解读：传感器证明 NIR 焊接的 FHE 平台能做完整无线功能——焊接工艺服务于真实应用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 (e,f), Adv. Electron. Mater., 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结论：NIR 选择性加热打通 FHE 焊接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NIR 焊接相比传统对流回流焊赢在哪？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选择性加热：焊料熔化（&gt;140°C）而 PET 基板保持低温（&lt;Tg 85–87°C），避免基板变形与线路损伤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MET（4 kW · 1 m/min · 25 s）：剪切 12.1 N、弯曲 1000 次、湿热 7 天无退化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暴露时间（而非功率密度）是主控参数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5 s 欠热、25 s 恰好、40 s 过热损伤银线——工艺设计聚焦热输入总量与停留时间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R2R 卷对卷兼容：传送带式工艺适合高通量连续制造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R2R：卷对卷（Roll-to-Roll）：连续卷材进料制造，柔性电子量产的关键路径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