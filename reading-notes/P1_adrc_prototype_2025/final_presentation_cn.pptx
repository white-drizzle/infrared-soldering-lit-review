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开场白：今天汇报一篇红外焊接温控论文——自研原型机 + ADRC 控制，实验把峰值温度误差从 20°C 压到 4°C，控制效率提升 12.2%。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先把论文出处交代清楚：IOP 出版社的工程应用期刊，ESCI Q2、IF 1.8、EI 收录，墨西哥 UABC 团队。右侧是期刊封面。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汇报脉络：先讲焊接温度跟踪为什么难，再讲原型与建模，核心是 ADRC 怎么把时滞当扰动处理，最后用仿真+实验双证据证明优势，收在 BGA 返修应用。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开场：这篇论文造了一台红外焊接原型机，核心卖点是控制——用 ADRC 代替工厂里最常见的 PID，实验把峰值误差从 20°C 压到 4°C，还省了 12% 的控制能量。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先讲问题背景：回流焊要求元件温度严格走厂商规定的曲线，跑偏就出缺陷。现有红外系统大多是开环加热（文献 [4][5]），缺闭环温控是痛点。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讲硬件：150W 卤素灯 + 椭圆镀金反射镜把光聚到焦点，理论上焦点温度可到 1200°C。加热目标是一块 5×6mm 的 BGA。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控制算法在 LabVIEW 上实时跑，信号经过功放驱动灯光。这张框图交代了闭环回路，后面的实验都在这套平台上做。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建模：BGA 小、导热快，Biot 数小于 0.1，所以可以用集总参数一阶模型。式 (1) 能量平衡、式 (2) 解出指数响应，热时间常数约 10.6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关键实验：3V 阶跃打进去，输出是一阶响应，但仔细看起始段——响应晚了 1.603 秒才动。这个时滞就是后面所有控制问题的根源。(d) 面板是输入跳变的放大，与 (c) 同类，故未放。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这是全文最聪明的点：传统做法是对时滞做多项式近似（Smith 预估器、Padé 高阶近似），这篇论文反过来——用一阶 Padé 把时滞变成一个"外部扰动"，交给 ADRC 的观测器去估计。先验证模型（图 6），再讲控制。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ADRC 的套路：理想控制律里有个未知扰动 γ，ESO 把它实时估出来（w(t)→γ），控制律里直接减掉。式子 (12)(13) 是观测器，(21) 是可实现的控制器。滑模项保证误差收敛。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仿真先跑 PID 做基线：不振荡，但起始段差 17°C、峰值差 22°C。对焊接这种±几度都敏感的过程，这误差不合格。(b) 面板是控制信号，与结论关联弱，未放。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ADRC 仿真：几乎无差跟踪，只有峰值处约 10°C 超调（方向和 PID 相反，是超调不是欠调）。论文结论：数值仿真 ADRC 优于 PID。(b) 面板轴标签视觉存疑（正文称控制信号），未放，避免图文错配。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单独一页讲观测器：ŷ 跟着 y 走（a），误差收敛到 0（b），扰动 w(t) 被完整复现（c）——"时滞当扰动"这个假设在数值上被验证了。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实验里 PID 重新整定了增益还是不行：峰值误差约 20°C，控制信号在 0–10V 之间高频振荡（b 面板，与结论关联弱未放）。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核心结果：实验里 ADRC 峰值误差只有约 4°C，PID 是 20°C。控制信号也振荡，但频率比 PID 低。论文强调：焊接的关键判据就是峰值温度准不准。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效率账：ITAE 是误差加权积分（式 27），E_u 是控制能量（式 28），两者之比是效率指标。ADRC 误差降了、能量略增，综合效率提升 12.2%——不是靠蛮力，是花得值。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应用演示：BGA 焊球搬运损伤（Fig. 12，半扁平变形），用本系统做局部回流——峰值 244±2°C、TAL 58 秒——焊球熔化后靠表面张力恢复球形（Fig. 13）。这是装饰性照片，无坐标轴，故不配读图。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收尾：三句话——时滞能当扰动处理（方法）、实验峰值误差 4°C（结果）、效率提升 12.2%（价值）。展望：作者计划做剪切测试、截面、X 光来验证修复焊点的机械强度。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1691640"/>
            <a:ext cx="9144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3400" b="1">
                <a:solidFill>
                  <a:srgbClr val="1A1A1A"/>
                </a:solidFill>
                <a:latin typeface="Microsoft YaHei"/>
              </a:rPr>
              <a:t>基于自抗扰控制结构的
红外电子器件焊接原型系统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7048" y="297180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Microsoft YaHei"/>
              </a:rPr>
              <a:t>A prototype for infrared soldering of electronic devices using the Active Disturbance Rejection Control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7048" y="352044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8B3A3A"/>
                </a:solidFill>
                <a:latin typeface="Microsoft YaHei"/>
              </a:rPr>
              <a:t>用 ADRC 替代 PID：红外焊接温度跟踪峰值误差从 20°C 压到 4°C，控制效率提升 12.2%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7048" y="4297680"/>
            <a:ext cx="91440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汇报用途：文献阅读汇报 · 单篇精读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7048" y="630936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999999"/>
                </a:solidFill>
                <a:latin typeface="Microsoft YaHei"/>
              </a:rPr>
              <a:t>Engineering Research Express 7 (2025) 045392  ·  DOI 10.1088/2631-8695/ae24c8  ·  汇报日期 2026-08-09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论文基本信息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66751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中文标题：基于自抗扰控制结构的红外电子器件焊接原型系统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英文标题：A prototype for infrared soldering of electronic devices using the active disturbance rejection control structure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期刊与分区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Engineering Research Express（IOP 出版社）· 2025 年 Vol. 7, Art. 045392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ESCI Q2 · IF 1.8 · EI 收录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作者团队（墨西哥 UABC 工程学院）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R Citlalli Anguiano Cota · David I Rosas Almeida（通讯）· J Rigoberto Herrera García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DOI: 10.1088/2631-8695/ae24c8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关键词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temperature control · infrared light · robustness · tracking · delayed systems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→ 时滞系统的鲁棒温度跟踪</a:t>
            </a:r>
          </a:p>
        </p:txBody>
      </p:sp>
      <p:pic>
        <p:nvPicPr>
          <p:cNvPr id="4" name="Picture 3" descr="journal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321783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5806440"/>
            <a:ext cx="321783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Engineering Research Express（IOP）期刊封面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IOPscience 期刊官网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汇报目录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10058400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01 · 背景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为什么精确温度跟踪是焊接质量关键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05456"/>
            <a:ext cx="10058400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02 · 原型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红外光学布置与 NI 闭环平台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56432"/>
            <a:ext cx="10058400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03 · 建模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一阶热模型与 1.603 s 时滞辨识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407408"/>
            <a:ext cx="10058400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04 · 方法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ADRC 与 ESO 扰动实时估计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358384"/>
            <a:ext cx="10058400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05 · 证据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仿真与实验对比（峰值误差 20→4°C）+ BGA 应用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红外焊接温度跟踪：从 PID 到 ADRC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时滞系统不需要精确模型也能高精度跟踪温度曲线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把输入时滞视为有界外部扰动，由扩张状态观测器实时估计并补偿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工程可落地：原型机 + 数值/实验双重验证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ADRC：自抗扰控制：不依赖精确数学模型，靠扩张状态观测器在线估计并补偿扰动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焊接成败 = 能否精确跟踪温度曲线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66751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8B3A3A"/>
                </a:solidFill>
                <a:latin typeface="Microsoft YaHei"/>
              </a:rPr>
              <a:t>如图 4 所示，</a:t>
            </a:r>
            <a:r>
              <a:rPr sz="1600" b="1">
                <a:solidFill>
                  <a:srgbClr val="1A1A1A"/>
                </a:solidFill>
                <a:latin typeface="Microsoft YaHei"/>
              </a:rPr>
              <a:t>元件温度必须严格沿回流曲线走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RSS 曲线四阶段：预热 → 保温 → 峰值 → 冷却，焊点需经历 150–245°C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温度超限或不足 → 桥连、冷焊、焊球损伤等缺陷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RSS：Ramp-Soak-Spike 曲线：最常用的回流温度曲线，含升温、保温、峰值三个阶段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SMT：表面贴装技术：元件直接贴装到 PCB 表面再整体回流焊接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坐标轴：横轴 Time (sec.)，纵轴温度 (°C)；曲线覆盖预热/保温/峰值/冷却四阶段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图例：黑线为目标回流温度曲线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图意：焊点必须精确复现这条 150–245°C 的升温-保温-峰值轨迹</a:t>
            </a:r>
          </a:p>
        </p:txBody>
      </p:sp>
      <p:pic>
        <p:nvPicPr>
          <p:cNvPr id="4" name="Picture 3" descr="2ed5381663c79d7709a22bf4edd93246be325b507b1e288ca00ce10899428ef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4480560" cy="27095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4126907"/>
            <a:ext cx="4480560" cy="27310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典型焊接温度曲线（回流四阶段）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解读：精确跟踪温度曲线是避免焊点缺陷的前提——这就是本文控制问题的来源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4, Eng. Res. Express,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原型：卤素灯 + 椭圆反射镜把红外聚焦到 BGA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66751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8B3A3A"/>
                </a:solidFill>
                <a:latin typeface="Microsoft YaHei"/>
              </a:rPr>
              <a:t>如图 2 所示，</a:t>
            </a:r>
            <a:r>
              <a:rPr sz="1600" b="1">
                <a:solidFill>
                  <a:srgbClr val="1A1A1A"/>
                </a:solidFill>
                <a:latin typeface="Microsoft YaHei"/>
              </a:rPr>
              <a:t>辐射被聚焦到焊球区域，实现局部加热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150 W / 15 V / 10 A；椭圆反射镜聚光 + 准直/聚焦透镜组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能量定向投递，周边元件与基板不受热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QTH：石英钨卤素灯：发射 UV–IR 宽带光谱，红外段用于加热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BGA：球栅阵列封装：焊球成阵列分布在底面；本文目标件 5×6 mm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图例：光束路径为反射-准直-聚焦三段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图意：红外辐射被集中到 BGA 焊球区域，实现选择性加热</a:t>
            </a:r>
          </a:p>
        </p:txBody>
      </p:sp>
      <p:pic>
        <p:nvPicPr>
          <p:cNvPr id="4" name="Picture 3" descr="4ae77c54eed1f87f4f43a4535814fbb552a374a4df119e46f43d251b9289f2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4480560" cy="33514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4768814"/>
            <a:ext cx="4480560" cy="20891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红外加热光学布置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解读：光路设计决定加热的局部性——只有被聚焦到的区域才升温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2, Eng. Res. Express, 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NI 实时平台：测温-控制-驱动闭环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66751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8B3A3A"/>
                </a:solidFill>
                <a:latin typeface="Microsoft YaHei"/>
              </a:rPr>
              <a:t>如图 3 所示，</a:t>
            </a:r>
            <a:r>
              <a:rPr sz="1600" b="1">
                <a:solidFill>
                  <a:srgbClr val="1A1A1A"/>
                </a:solidFill>
                <a:latin typeface="Microsoft YaHei"/>
              </a:rPr>
              <a:t>闭环实时执行：测温 → 控制 → 驱动灯光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NI cRIO-9074 跑 LabVIEW；控制信号经自制功率放大器（±35V@10A）驱动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可复现 150–245°C 回流曲线，为闭环对比实验提供平台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NI cRIO：NI 实时控制器：400 MHz CPU + FPGA，工业级硬实时控制平台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热电偶：Type J 测温传感器，直接接触 BGA 表面监测温度（−210–750°C）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图例：闭环回路标识传感与控制间的信号流（温度传感→实时控制→功率放大→红外光源→被加热件）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图意：温度感知与控制执行构成完整闭环，这是本文与开环红外系统的本质区别</a:t>
            </a:r>
          </a:p>
        </p:txBody>
      </p:sp>
      <p:pic>
        <p:nvPicPr>
          <p:cNvPr id="4" name="Picture 3" descr="97e45d2b77cc3ab6711d7f64860693696e46a1b4bda4f58b20aa8b92577bb3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4480560" cy="25779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3995297"/>
            <a:ext cx="4480560" cy="28627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红外加热温控系统框图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解读：闭环平台是本文能对比 PID/ADRC 的前提——控制算法在 LabVIEW 里实时跑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3, Eng. Res. Express, 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建模①：集总参数一阶热模型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小尺寸高导热 → 温度均匀，可集总建模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Bi = hLc/k &lt; 0.1；能量平衡 mc_p·dT/dt = q_in − hA(T−T∞)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一阶模型即可描述主导热动态，无需空间分布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热时间常数 τ_th = mc_p/(hA) ≈ 10.61 s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63% 上升时间准则；补偿时滞后与辨识值吻合，验证模型有效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模型参数可直接用于后续控制器设计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Bi 数：毕渥数：内部导热阻力 vs 表面换热阻力之比，&lt;0.1 视为温度均匀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集总参数：忽略空间温度分布，用单一平均温度描述整个加热对象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建模②：实验辨识出一阶响应 + 1.6 秒时滞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如图 5 (a–c) 所示，</a:t>
            </a:r>
            <a:r>
              <a:rPr sz="1300" b="1">
                <a:solidFill>
                  <a:srgbClr val="1A1A1A"/>
                </a:solidFill>
                <a:latin typeface="Microsoft YaHei"/>
              </a:rPr>
              <a:t>系统呈一阶特性，但输入存在 1.603 s 时滞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· 3V 阶跃输入激励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· MATLAB 系统辨识工具箱拟合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1">
                <a:solidFill>
                  <a:srgbClr val="8B3A3A"/>
                </a:solidFill>
                <a:latin typeface="Microsoft YaHei"/>
              </a:rPr>
              <a:t>a=0.0944, b=4.484, τ=1.603 s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坐标轴：(a) 横轴 Time (sec.) 纵轴 y(t) (°C) 0–150°C；(b) 起始段局部放大 185–195 s；(c) 阶跃输入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图例：(a) 黑线=温度响应，红色箭头=时滞标注；(b) 红线虚线标出 τ=1.603 s；(c) 阶跃 0→3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图意：响应在输入跳变后延迟 1.603 s 才开始上升——时滞是后续控制的头号难题</a:t>
            </a:r>
          </a:p>
        </p:txBody>
      </p:sp>
      <p:pic>
        <p:nvPicPr>
          <p:cNvPr id="4" name="Picture 3" descr="9e629ed8f6700c239f272b46761c71c1e34ce7db547f9f0faba6edc903cd3fc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323855"/>
            <a:ext cx="3624986" cy="18562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031247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none" anchor="b">
            <a:spAutoFit/>
          </a:bodyPr>
          <a:lstStyle/>
          <a:p>
            <a:r>
              <a:rPr sz="1100" b="1">
                <a:solidFill>
                  <a:srgbClr val="5A5A5A"/>
                </a:solidFill>
                <a:latin typeface="Microsoft YaHei"/>
              </a:rPr>
              <a:t>(a)</a:t>
            </a:r>
          </a:p>
        </p:txBody>
      </p:sp>
      <p:pic>
        <p:nvPicPr>
          <p:cNvPr id="6" name="Picture 5" descr="b2644b913076e233918871dcf303894cf969e68c7ee6ed434afdd6094196e60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354" y="3353937"/>
            <a:ext cx="3624986" cy="17960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83354" y="3061329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none" anchor="b">
            <a:spAutoFit/>
          </a:bodyPr>
          <a:lstStyle/>
          <a:p>
            <a:r>
              <a:rPr sz="1100" b="1">
                <a:solidFill>
                  <a:srgbClr val="5A5A5A"/>
                </a:solidFill>
                <a:latin typeface="Microsoft YaHei"/>
              </a:rPr>
              <a:t>(b)</a:t>
            </a:r>
          </a:p>
        </p:txBody>
      </p:sp>
      <p:pic>
        <p:nvPicPr>
          <p:cNvPr id="8" name="Picture 7" descr="5fff4d14fd7e32598924e5e39d3b20c25f30958c2ce097e56d8d6e244250f5c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8068" y="3321592"/>
            <a:ext cx="3624986" cy="18607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18068" y="3028984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none" anchor="b">
            <a:spAutoFit/>
          </a:bodyPr>
          <a:lstStyle/>
          <a:p>
            <a:r>
              <a:rPr sz="1100" b="1">
                <a:solidFill>
                  <a:srgbClr val="5A5A5A"/>
                </a:solidFill>
                <a:latin typeface="Microsoft YaHei"/>
              </a:rPr>
              <a:t>(c)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742431"/>
            <a:ext cx="11094415" cy="11155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系统动态模型辨识实验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5A5A5A"/>
                </a:solidFill>
                <a:latin typeface="Microsoft YaHei"/>
              </a:rPr>
              <a:t>(a) 温度阶跃响应; (b) 起始段局部放大，时滞 τ=1.603 s; (c) 3V 阶跃输入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解读：响应符合一阶特性但起步滞后 1.603 s——输入时滞是本文要解决的核心挑战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5 (a–c), Eng. Res. Express, 2025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关键洞察：时滞可以当作外部扰动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一阶 Padé 近似后，输入时滞的效应等价于一个有界外部扰动 γ(·)，可被观测器估计</a:t>
            </a:r>
          </a:p>
        </p:txBody>
      </p:sp>
      <p:pic>
        <p:nvPicPr>
          <p:cNvPr id="4" name="Picture 3" descr="c96602b0b59e37838dc83e0aab4d814fdef1f2a6f14254706b1b7fa7272197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949440" cy="40509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51164"/>
            <a:ext cx="6949440" cy="12068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实验（黑线）vs 数值（红线）温度输出对比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解读：模型与实验吻合 → 简化模型可用；时滞按扰动处理是全文的方法论支点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6, Eng. Res. Express,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554480"/>
            <a:ext cx="3840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如图 6 所示，</a:t>
            </a:r>
            <a:r>
              <a:rPr sz="1400" b="1">
                <a:solidFill>
                  <a:srgbClr val="1A1A1A"/>
                </a:solidFill>
                <a:latin typeface="Microsoft YaHei"/>
              </a:rPr>
              <a:t>时滞经一阶 Padé 近似后成为有界扰动 γ(·)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e^(−τs) ≈ (2−τs)/(2+τs)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扰动假设有界：|γ|&lt;δ₀, |γ̇|&lt;δ₁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有界扰动 → 可被扩张状态观测器实时估计并补偿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坐标轴：横轴 Time (sec.)，纵轴 y(t) (°C) 0–150°C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图例：黑线=实验温度输出；红线=数值模型输出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图意：两线高度吻合，验证模型 (3)；个别偏差由 ADRC 的鲁棒性兜底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ADRC 核心：扩张状态观测器实时估计扰动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理想控制律需要 γ(·)，但它未知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误差动力学 ė=−(a+k)e + γ − w；只要 w→γ，扰动即消失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实际控制律 u=(a·y_r + ẏ_r − w − k·e)/b 完全可实现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ESO 由输出误差驱动，含滑模项 c₃·sign(·)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二阶滑模收敛 → 等效控制 u_eq=γ̇ → 最终 w(t)=γ(·)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观测器独立于控制器，分离原理保证整体稳定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ESO：扩张状态观测器：把扰动扩张成新的状态变量，在线估计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分离原理：观测器与控制器可独立设计、联合仍然稳定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仿真对照①：PID 误差 17–22°C，焊接不可接受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66751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8B3A3A"/>
                </a:solidFill>
                <a:latin typeface="Microsoft YaHei"/>
              </a:rPr>
              <a:t>如图 7 所示，</a:t>
            </a:r>
            <a:r>
              <a:rPr sz="1600" b="1">
                <a:solidFill>
                  <a:srgbClr val="1A1A1A"/>
                </a:solidFill>
                <a:latin typeface="Microsoft YaHei"/>
              </a:rPr>
              <a:t>PID 输出虽不振荡，但跟踪误差太大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起始段约 17°C、峰值处约 22°C（kp=0.05099, ki=0.00361, kd=0.12029）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焊接对温度精度敏感，此误差超工艺窗口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坐标轴：横轴 Time (sec.)，纵轴 y_r(t), y(t) (°C) 0–250°C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图例：黑线=参考信号 y_r；红线=系统输出 y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图意：输出明显滞后参考，峰值处低约 22°C；控制信号保持在 0–10V 内</a:t>
            </a:r>
          </a:p>
        </p:txBody>
      </p:sp>
      <p:pic>
        <p:nvPicPr>
          <p:cNvPr id="4" name="Picture 3" descr="a9cae443c2e537724f5929c1cb6b9c47dc63466bcc01edbd795f2390cbde029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4480560" cy="1228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2645985"/>
            <a:ext cx="4480560" cy="42120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PID 闭环仿真（自动整定增益）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解读：PID 无振荡但误差大——经典控制器在时滞系统上的典型短板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7 (a), Eng. Res. Express, 2025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仿真对照②：ADRC 几乎无差跟踪，仅峰值 10°C 超调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ADRC 数值仿真稳态误差几乎消除，代价是峰值处约 10°C 超调</a:t>
            </a:r>
          </a:p>
        </p:txBody>
      </p:sp>
      <p:pic>
        <p:nvPicPr>
          <p:cNvPr id="4" name="Picture 3" descr="d85d47d63abebd1c5aff93e887b4f0846b85dc10235858fb3f3383fd607f105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949440" cy="18977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497957"/>
            <a:ext cx="6949440" cy="33600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ADRC 闭环仿真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解读：时滞被当作扰动实时补偿后，跟踪精度质变——数值层面 ADRC 胜出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8 (a), Eng. Res. Express,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554480"/>
            <a:ext cx="3840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如图 8 所示，</a:t>
            </a:r>
            <a:r>
              <a:rPr sz="1400" b="1">
                <a:solidFill>
                  <a:srgbClr val="1A1A1A"/>
                </a:solidFill>
                <a:latin typeface="Microsoft YaHei"/>
              </a:rPr>
              <a:t>ADRC 仿真跟踪精度显著优于 PID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观测器增益 c₁=200, c₂=50, c₃=70；控制器 k=0.5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斜坡/平台段输出与参考几乎重合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稳态误差≈0；峰值处超调约 10°C（PID 欠调 22°C）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坐标轴：横轴 Time (sec.)，纵轴 y_r(t), y(t) (°C) 0–250°C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图例：黑线=参考 y_r；红线=输出 y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图意：两线全程几乎重合，仅峰值处小幅超调——时滞扰动被有效补偿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ESO 观测器：输出复现、误差归零、扰动被抓住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如图 9 (a–c) 所示，</a:t>
            </a:r>
            <a:r>
              <a:rPr sz="1300" b="1">
                <a:solidFill>
                  <a:srgbClr val="1A1A1A"/>
                </a:solidFill>
                <a:latin typeface="Microsoft YaHei"/>
              </a:rPr>
              <a:t>ESO 逼近理想观测性能，扰动估计可用于补偿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· 观测输出 ŷ(t) 与实测 y(t) 几乎重合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· 观测误差 ε(t) 收敛到 0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1">
                <a:solidFill>
                  <a:srgbClr val="8B3A3A"/>
                </a:solidFill>
                <a:latin typeface="Microsoft YaHei"/>
              </a:rPr>
              <a:t>ε 初始峰值 2 → 稳态 0；w(t) 完整复现扰动尖峰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坐标轴：(a) 横轴 Time 纵轴 y, ŷ (°C) 0–250；(b) 观测误差 ε(t)；(c) 扰动估计 w(t) ±20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图例：(a) 黑实线=观测输出 ŷ(t)，红虚线=实测 y(t)；(b) 误差量；(c) w(t) 波形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图意：三面板证明观测器精确跟踪输出并抓住扰动——ADRC 补偿的底气</a:t>
            </a:r>
          </a:p>
        </p:txBody>
      </p:sp>
      <p:pic>
        <p:nvPicPr>
          <p:cNvPr id="4" name="Picture 3" descr="73de0f24c855397e9fbb34a10942efde510179388c4bd0e5416d12fb360672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911669"/>
            <a:ext cx="3624986" cy="6805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619061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none" anchor="b">
            <a:spAutoFit/>
          </a:bodyPr>
          <a:lstStyle/>
          <a:p>
            <a:r>
              <a:rPr sz="1100" b="1">
                <a:solidFill>
                  <a:srgbClr val="5A5A5A"/>
                </a:solidFill>
                <a:latin typeface="Microsoft YaHei"/>
              </a:rPr>
              <a:t>(a)</a:t>
            </a:r>
          </a:p>
        </p:txBody>
      </p:sp>
      <p:pic>
        <p:nvPicPr>
          <p:cNvPr id="6" name="Picture 5" descr="1dcc0830fb6537efdd93c6be992ace2b56dd277828649daf57141abfb07ff95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354" y="3924053"/>
            <a:ext cx="3624986" cy="6558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83354" y="3631445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none" anchor="b">
            <a:spAutoFit/>
          </a:bodyPr>
          <a:lstStyle/>
          <a:p>
            <a:r>
              <a:rPr sz="1100" b="1">
                <a:solidFill>
                  <a:srgbClr val="5A5A5A"/>
                </a:solidFill>
                <a:latin typeface="Microsoft YaHei"/>
              </a:rPr>
              <a:t>(b)</a:t>
            </a:r>
          </a:p>
        </p:txBody>
      </p:sp>
      <p:pic>
        <p:nvPicPr>
          <p:cNvPr id="8" name="Picture 7" descr="8586267116c6f8e6b186cde24f10097ff9eb1402feb050f9a5c652017282445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8068" y="3918032"/>
            <a:ext cx="3624986" cy="6678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18068" y="3625424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none" anchor="b">
            <a:spAutoFit/>
          </a:bodyPr>
          <a:lstStyle/>
          <a:p>
            <a:r>
              <a:rPr sz="1100" b="1">
                <a:solidFill>
                  <a:srgbClr val="5A5A5A"/>
                </a:solidFill>
                <a:latin typeface="Microsoft YaHei"/>
              </a:rPr>
              <a:t>(c)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742431"/>
            <a:ext cx="11094415" cy="11155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鲁棒观测器性能（数值仿真）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5A5A5A"/>
                </a:solidFill>
                <a:latin typeface="Microsoft YaHei"/>
              </a:rPr>
              <a:t>(a) 观测输出 ŷ vs 实测 y; (b) 观测误差 ε(t); (c) 扰动估计 w(t)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解读：扰动被精确估计（w≈γ），说明"时滞当扰动"的假设成立、补偿可信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9 (a–c), Eng. Res. Express, 2025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实验对照①：PID 峰值误差 20°C，控制信号剧烈振荡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PID 实测最大温度处误差约 20°C，控制量高频大幅振荡</a:t>
            </a:r>
          </a:p>
        </p:txBody>
      </p:sp>
      <p:pic>
        <p:nvPicPr>
          <p:cNvPr id="4" name="Picture 3" descr="eeeeb302dddbdb2e9af26dcee2474323ae2ab2bb0463f9ebf18975f6c419a6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949440" cy="19296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529836"/>
            <a:ext cx="6949440" cy="33281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PID 闭环实验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解读：真实硬件上 PID 的时滞短板更明显：误差大且控制量振荡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10 (a), Eng. Res. Express,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554480"/>
            <a:ext cx="3840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如图 10 所示，</a:t>
            </a:r>
            <a:r>
              <a:rPr sz="1400" b="1">
                <a:solidFill>
                  <a:srgbClr val="1A1A1A"/>
                </a:solidFill>
                <a:latin typeface="Microsoft YaHei"/>
              </a:rPr>
              <a:t>PID 实测精度不足且控制能耗大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增益重新整定 kp=0.5, ki=0.2, kd=0.2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起始阶段输出振荡、稳态误差先减后增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峰值温度误差约 20°C；u(t) 0–10V 高频振荡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坐标轴：横轴 Time (sec.)，纵轴 y_r(t), y(t) (°C) 0–250°C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图例：黑线=参考 y_r；红线=实测输出 y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图意：峰值处低于参考约 20°C，初期振荡明显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实验对照②：ADRC 把峰值误差从 20°C 压到 4°C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ADRC 实测最大温度处误差仅约 4°C，控制信号振荡频率更低</a:t>
            </a:r>
          </a:p>
        </p:txBody>
      </p:sp>
      <p:pic>
        <p:nvPicPr>
          <p:cNvPr id="4" name="Picture 3" descr="1d9f938909e813611241fe40649bbab21bdc16c3c462f0cbeb01b1dee616b5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949440" cy="19147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514911"/>
            <a:ext cx="6949440" cy="334308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ADRC 闭环实验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解读：焊接的关键判据是峰值温度准确——4°C 误差是全文最有说服力的结果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11 (a), Eng. Res. Express,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554480"/>
            <a:ext cx="3840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如图 11 所示，</a:t>
            </a:r>
            <a:r>
              <a:rPr sz="1400" b="1">
                <a:solidFill>
                  <a:srgbClr val="1A1A1A"/>
                </a:solidFill>
                <a:latin typeface="Microsoft YaHei"/>
              </a:rPr>
              <a:t>ADRC 实测跟踪精度显著优于 PID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观测器参数不变，仅控制器 k 调为 0.9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输出全程有振荡但均值贴近参考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峰值温度误差约 4°C（vs PID 20°C）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坐标轴：横轴 Time (sec.)，纵轴 y_r(t), y(t) (°C) 0–250°C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图例：黑线=参考 y_r；红线=实测输出 y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图意：峰值处两线几乎重合（误差约 2–4°C）；控制信号振荡频率低于 PID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效率账：ITAE_eff 提升 12.2%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Microsoft YaHei"/>
              </a:rPr>
              <a:t>ADRC 的跟踪-能耗折中更优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ITAE：3.0042e5 → 2.7470e5（误差积分下降）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控制能量 E_u：2.427e3 → 2.529e3（略增）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ITAE_eff = ITAE/E_u：123.74 → 108.62，改善约 12.2%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788920"/>
          <a:ext cx="110642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控制器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ITAE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E_u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ITAE_eff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PID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3.0042e5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2.427e3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123.74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ADRC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2.7470e5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2.529e3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108.62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937760"/>
            <a:ext cx="110642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ITAE_eff 越低越高效：ADRC 提升约 12.2%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实战：BGA 焊球损伤的局部返修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局部回流后受损焊球恢复规则球形（峰值 244±2°C，TAL 58 s）</a:t>
            </a:r>
          </a:p>
        </p:txBody>
      </p:sp>
      <p:pic>
        <p:nvPicPr>
          <p:cNvPr id="4" name="Picture 3" descr="d4fde53bad004012dbe8550fa661a32157c275ef1fe53c4c59cabd375d0484d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4888556" cy="37856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385815"/>
            <a:ext cx="4888556" cy="14721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热加工后 BGA：焊球修复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解读：修复前（Fig. 12）焊球半扁平/不规则变形；修复后恢复规则均匀球形——局部修复可行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13, Eng. Res. Express,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554480"/>
            <a:ext cx="3840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如图 13 所示，</a:t>
            </a:r>
            <a:r>
              <a:rPr sz="1400" b="1">
                <a:solidFill>
                  <a:srgbClr val="1A1A1A"/>
                </a:solidFill>
                <a:latin typeface="Microsoft YaHei"/>
              </a:rPr>
              <a:t>红外局部返修恢复焊球形状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预热 ~150°C → 保温 ~180°C → 峰值 244±2°C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TAL（液相线上时间）58 s，符合无铅标准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熔化后表面张力主导 → 焊球自愈为规则球形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结论：ADRC 是红外焊接温度控制的更优解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Microsoft YaHei"/>
              </a:rPr>
              <a:t>Q: ADRC 相比 PID 到底赢在哪？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5A5A5A"/>
                </a:solidFill>
                <a:latin typeface="Microsoft YaHei"/>
              </a:rPr>
              <a:t>不依赖精确模型、不做时滞多项式近似：把时滞当有界扰动，由 ESO 实时估计并补偿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8B3A3A"/>
                </a:solidFill>
                <a:latin typeface="Microsoft YaHei"/>
              </a:rPr>
              <a:t>→ 峰值误差 20→4°C，ITAE_eff 提升 12.2%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10642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icrosoft YaHei"/>
              </a:rPr>
              <a:t>附加收益：局部返修减少电子废弃物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BGA 焊球损伤可原位修复，不必整件报废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→ 节能 + 降耗的可持续焊接路径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TAL：Time Above Liquids：焊料保持熔融状态的时间（本文 58 s）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