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开场白：今天汇报一篇 2018 年发表于 J. Electrical Engineering 的实验论文——用红外焊接研究热流方向对 BGA 焊球界面层（IMC）的影响。核心结果：底部加热的 IMC 层最薄最平滑。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交代出处：Sciendo（De Gruyter）旗下的 Journal of Electrical Engineering，SCIE Q3、IF 1.7、EI 收录，捷克布尔诺理工大学 Otáhal 与 Szendiuch 团队。右侧是期刊封面。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汇报脉络：先讲 BGA 再植球为什么难、热流方向为何被忽视；再讲理论依据（IMC 生长与热迁移）；然后实验设计（同一台焊接站三种加热方向、曲线统一）；接着量化方法（MSL/Rrms + EDS 验证）；核心是结果——底部加热界面层最薄最平滑；最后讨论机理与结论。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问题背景：BGA 这类封装焊盘多而小，球附着/再植球（reballing）质量直接决定焊点可靠性。文献里影响参数研究得很全，唯独热流方向很少有人系统做——这就是本文切入点。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理论铺垫：IMC 有两相（η 快、ε 慢），热输入越大长得越快、多次回流越厚、超厚就脆。更关键的是已有文献发现温度梯度会让 Cu 往热端跑、Sn 往冷端跑，导致热端 IMC 薄冷端厚——这是本文假说的物理基础。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实验主角是自建的 Power Tower 焊接站：两个 80×80 mm 陶瓷红外加热器水平对置（嵌在不锈钢罩里），加一个 80×80 风扇冷却。关键设计：同一台设备实现三种加热方向，排除设备差异。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实验设计：三种加热方向——只开底部（bottom IR）、只开顶部（top IR）、两边同时开（both IR）。加热方向是唯一变量，其他工艺参数全部统一。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三条回流曲线（bottom/top/both）按 SAC305 焊球和 SMF-08 助焊剂厂商建议优化，参数完全统一，温度用 K 型热电偶在 BGA 顶部测、PID 控制——曲线差异被排除，变量只剩热流方向。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工艺参数表（Tab. 1）：升温 1.2°C/s、峰值 235°C、冷却 4°C/s、TAL 30 s。特别算了一个加热因子 Qη=308 s·°C——这是把温度曲线压成一个数，方便跟其他研究对比热输入。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试样是仿 BGA 的 dummy 件：FR4 基板 11×11×1.5 mm、黑色阻焊（吸红外更好）、400 µm 焊盘配 500 µm 焊球、ENIG 镀层。焊完做金相切片加选择性腐蚀，把界面 IMC 层显出来。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量化方法：先在显微照片上用 ImageJ 测 IMC 层面积和长度，MSL=A/L 得平均厚度；再按 MSL 为基准量起伏，Rrms=√(ΣZi²/N) 得有效粗糙度。两个指标互不依赖、互相印证。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EDS 验证（Fig. 8 的黄色箭头即扫描区域，Fig. 9）：SEM 图上沿黄箭头做线扫，Cu/Ni/P/Sn 四种元素分布清晰分层——确认我们测的就是焊料-焊盘间的 IMC 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微观证据：Bottom IR 试样断面照片里 Cu、IMC、Ni-P 层清晰，IMC 层明显薄而平。Top IR（Fig. 6）与 Both IR（Fig. 7）同法观察、层更厚起伏更大，此处以 Bottom 作代表图。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核心定量结果：IMC 厚度 Bottom 1.641 µm &lt; Both 2.573 µm &lt; Top 2.715 µm。论文另做统计显著性验证，Top 与 Both 可视为厚度相近。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粗糙度结果（Fig. 11）：Bottom 0.901 µm 最小、Top 1.296 µm、Both 1.628 µm——排序与厚度一致（粗糙度与厚度正相关是已知现象）。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为什么底部加热最薄？三个原因：① 热电偶在顶部，顶部加热时反馈位置与实际热流强度错位；② 热迁移——温度梯度让 Cu 往热端、Sn 往冷端跑；③ 熔融焊料流动（Marangoni/自然对流）促进 IMC 生长剥落。Bottom IR 加热经基板传导，焊球内梯度小，所以 IMC 最薄。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收尾三句话：测温传感器位置至关重要（实测温度≠供热量）；Bottom IR 的 IMC 层最薄最平滑，Top≈Both 统计相近；结合前作 EMPC 2017 可假设：熔融焊料因浓度与温度梯度产生的流动部分影响了界面层。后续展望是定量研究流场与界面反应的耦合。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1691640"/>
            <a:ext cx="9144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3400" b="1">
                <a:solidFill>
                  <a:srgbClr val="1A1A1A"/>
                </a:solidFill>
                <a:latin typeface="Microsoft YaHei"/>
              </a:rPr>
              <a:t>热流方向对焊球界面层的影响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7048" y="297180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Microsoft YaHei"/>
              </a:rPr>
              <a:t>Influence of heat flow direction on solder ball interfacial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7048" y="352044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8B3A3A"/>
                </a:solidFill>
                <a:latin typeface="Microsoft YaHei"/>
              </a:rPr>
              <a:t>BGA 焊球三种热流方向红外焊接：底部加热的 IMC 界面层最薄（1.641 µm）最平滑（Rrms 0.901 µm）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7048" y="4297680"/>
            <a:ext cx="91440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汇报用途：文献阅读汇报 · 单篇精读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7048" y="63093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99999"/>
                </a:solidFill>
                <a:latin typeface="Microsoft YaHei"/>
              </a:rPr>
              <a:t>J. Electrical Engineering 2018 · DOI 10.2478/jee-2018-0043 · 2026-08-10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论文基本信息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675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中文标题：热流方向对焊球界面层的影响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英文标题：Influence of heat flow direction on solder ball interfacial layer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期刊与分区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Journal of Electrical Engineering（Sciendo / De Gruyter）· 2018 年 Vol. 69(4): 305-310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SCIE Q3 · IF 1.7 · EI 收录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作者团队（捷克布尔诺理工大学）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Alexandr Otáhal · Ivan Szendiuch（微电子系，博士生导师组）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DOI: 10.2478/jee-2018-0043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关键词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BGA 封装 · 回流焊 · 红外加热器 · 热流方向 · 金属间化合物界面层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→ 热流方向对 IMC 层厚度与粗糙度的影响</a:t>
            </a:r>
          </a:p>
        </p:txBody>
      </p:sp>
      <p:pic>
        <p:nvPicPr>
          <p:cNvPr id="4" name="Picture 3" descr="journal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2961480" cy="41879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5605272"/>
            <a:ext cx="2961480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Journal of Electrical Engineering 期刊封面（装饰图）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期刊封面, Journal of Electrical Engineering, 2018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汇报目录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10058400" cy="655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01 · 引言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BGA 再植球与 IMC 界面层：热流方向是被忽视的参数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46960"/>
            <a:ext cx="10058400" cy="655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02 · 理论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IMC 生长动力学与热迁移假说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139440"/>
            <a:ext cx="10058400" cy="655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03 · 实验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Power Tower 焊接站、三种加热方向与统一回流曲线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931920"/>
            <a:ext cx="10058400" cy="655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04 · 分析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金相制样、MSL/Rrms 量化指标与 EDS 元素验证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24400"/>
            <a:ext cx="10058400" cy="655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05 · 结果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厚度与粗糙度：Bottom IR 全面最优（1.641 µm / 0.901 µm）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516880"/>
            <a:ext cx="10058400" cy="655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06 · 讨论与结论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热迁移解释与三大发现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BGA 再植球：焊点可靠性由界面层决定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球附着/再植球是 BGA 可靠性关键工序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焊盘数量多、尺寸与间距小；材料兼容、封装设计、温度曲线等都会影响焊点质量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界面层（IMC）厚度与粗糙度必须尽量小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热流方向是长期被忽视的参数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大量研究关注材料/曲线/设计，热流方向的影响却少有人系统研究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本文用红外加热做三种方向的对照实验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BGA：球栅阵列封装：焊球阵列分布在封装底面，通过焊球与 PCB 电气互连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IMC：金属间化合物：焊料与焊盘在回流中反应生成的界面层，过厚会降低机械强度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理论：IMC 生长动力学与热流的关系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η 相长得比 ε 相快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Cu6Sn5 生成显著快于 Cu3Sn；(Cu,Ni)6Sn5 快于 (Ni,Cu)3Sn4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SAC305/ENIG 界面以 Cu6Sn5 系为主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热流大、多次回流 → IMC 增厚 → 强度下降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超过某一厚度后机械抗力降低，焊点可靠性变差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必须控制热输入与回流次数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温度梯度驱动热迁移：Cu 向热端、Sn 向冷端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文献 [9] 实测：热端 IMC 薄、冷端厚——方向效应有先例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据此建立假说：热流方向影响焊球界面结构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热迁移：thermomigration：熔融焊料内温度梯度驱动元素定向迁移的现象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实验装备：Power Tower 红外焊接站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675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8B3A3A"/>
                </a:solidFill>
                <a:latin typeface="Microsoft YaHei"/>
              </a:rPr>
              <a:t>如图 1 所示，</a:t>
            </a:r>
            <a:r>
              <a:rPr sz="1600" b="1">
                <a:solidFill>
                  <a:srgbClr val="1A1A1A"/>
                </a:solidFill>
                <a:latin typeface="Microsoft YaHei"/>
              </a:rPr>
              <a:t>陶瓷红外加热器嵌入不锈钢罩，水平对置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两个 80×80 mm 加热器相对水平布置；另配 80×80 mm 风扇冷却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一台设备即可切换底部/顶部/双侧加热，保证工况可比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图例：加热器与风扇位置在照片中清晰可辨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图意：同一台焊接站支撑三种加热方向的切换——实验对照的基础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陶瓷红外加热器：通电后辐射红外波段的加热元件，用于回流焊的直接辐射加热</a:t>
            </a:r>
          </a:p>
        </p:txBody>
      </p:sp>
      <p:pic>
        <p:nvPicPr>
          <p:cNvPr id="4" name="Picture 3" descr="e51a958447fc790088f47eb6a3503e34559576ad4e6fee1246fb3122303283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2620101" cy="3749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5166359"/>
            <a:ext cx="2620101" cy="16916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Power Tower 焊接站：两个红外加热器与冷却风扇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解读：加热方向的切换在同一台设备上完成——三种工况除热流方向外完全可比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1, J. Electrical Engineering, 2018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三种加热方向：Bottom / Top / Both 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69494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如图 2 所示，</a:t>
            </a:r>
            <a:r>
              <a:rPr sz="1500" b="1">
                <a:solidFill>
                  <a:srgbClr val="1A1A1A"/>
                </a:solidFill>
                <a:latin typeface="Microsoft YaHei"/>
              </a:rPr>
              <a:t>三种红外加热方向：仅热流方向不同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· (a) bottom IR——仅底部加热器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· (b) top IR——仅顶部加热器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· (c) both IR——双侧同时加热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加热方向 = 实验设计的唯一变量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图例：(a) 底部 IR、(b) 顶部 IR、(c) 双侧 IR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图意：热流从底部/顶部/双侧三个方向进入焊球——本文研究的核心变量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示意图：本图为位置示意而非实物照片——展示加热器与试样的相对位置关系</a:t>
            </a:r>
          </a:p>
        </p:txBody>
      </p:sp>
      <p:pic>
        <p:nvPicPr>
          <p:cNvPr id="4" name="Picture 3" descr="b0a2093ced6814097a842eead546739601a2786f8aa7c3b30224762825afc1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695" y="1664208"/>
            <a:ext cx="1411872" cy="1618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06695" y="1371600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(a)</a:t>
            </a:r>
          </a:p>
        </p:txBody>
      </p:sp>
      <p:pic>
        <p:nvPicPr>
          <p:cNvPr id="6" name="Picture 5" descr="787db29630149d5a0860491c1a5e2b9540189fb9c992b277782ad7a56e7b71e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837" y="1664208"/>
            <a:ext cx="1409971" cy="1618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97837" y="1371600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(b)</a:t>
            </a:r>
          </a:p>
        </p:txBody>
      </p:sp>
      <p:pic>
        <p:nvPicPr>
          <p:cNvPr id="8" name="Picture 7" descr="017e6c03038cedba38cdcebe0a48e854935a209088dbf3804881bdab9ff6d1b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1291" y="3685032"/>
            <a:ext cx="1552873" cy="16184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31291" y="3392424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5349240"/>
            <a:ext cx="3870655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5A5A5A"/>
                </a:solidFill>
                <a:latin typeface="Microsoft YaHei"/>
              </a:rPr>
              <a:t>红外加热器位置示意（三种加热方向）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Microsoft YaHei"/>
              </a:rPr>
              <a:t>(a) bottom IR; (b) top IR; (c) both IR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8B3A3A"/>
                </a:solidFill>
                <a:latin typeface="Microsoft YaHei"/>
              </a:rPr>
              <a:t>解读：三种热流方向是实验设计唯一的自变量——后续所有厚度/粗糙度差异都归因于此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2 (a–c), J. Electrical Engineering, 2018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回流曲线三方向统一：只改变热流方向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675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8B3A3A"/>
                </a:solidFill>
                <a:latin typeface="Microsoft YaHei"/>
              </a:rPr>
              <a:t>如图 3 所示，</a:t>
            </a:r>
            <a:r>
              <a:rPr sz="1600" b="1">
                <a:solidFill>
                  <a:srgbClr val="1A1A1A"/>
                </a:solidFill>
                <a:latin typeface="Microsoft YaHei"/>
              </a:rPr>
              <a:t>K 型热电偶固定在 BGA 顶部测温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测温位置模拟实际选择性焊接的反馈传感器位；温度由 PID 控制器维持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三种工况温度曲线统一 → 差异只来自热流方向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坐标轴：横轴时间、纵轴温度；虚线为焊料熔点标线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图例：三条曲线对应 bottom / top / both 三种加热方式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图意：三方向回流曲线基本重合、参数统一——对照实验的前提成立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K 型热电偶：工业常用测温传感器（镍铬-镍硅），测温范围宽，用于焊点温度反馈</a:t>
            </a:r>
          </a:p>
        </p:txBody>
      </p:sp>
      <p:pic>
        <p:nvPicPr>
          <p:cNvPr id="4" name="Picture 3" descr="22a9d84789a7ecdb833a71bec162eaefc6765cf2e87696d44dc464c70e619dd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4480560" cy="3271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4688563"/>
            <a:ext cx="4480560" cy="216943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三种加热方向的回流温度曲线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解读：曲线参数统一排除了温度曲线差异的干扰——只保留热流方向这一个变量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3, J. Electrical Engineering, 2018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回流工艺参数：峰值 235°C · TAL 30 s · 加热因子 308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Microsoft YaHei"/>
              </a:rPr>
              <a:t>参数以 SAC305 + SMF-08 助焊剂为依据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主准则：三种加热方向的基本参数完全统一（见回流曲线图）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→ 加热因子 Qη 量化热输入，保证研究可比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加热因子：Qη：液相线以上温度对时间的积分，量化回流过程的总热输入（式 1）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TAL：Time Above Liquidus：焊料保持熔融状态的时间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78892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参数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单位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数值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升温速率（至峰值）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°C/s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1.2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峰值温度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°C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235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冷却速率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°C/s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液相线上时间 TAL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30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加热因子 Qη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s·°C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308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66928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Qη = ∫(T(t1)−Tm)dt ≈ 308 s·°C：与文献既往/后续研究横向比较的标准量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Dummy BGA 试样与金相制样流程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675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8B3A3A"/>
                </a:solidFill>
                <a:latin typeface="Microsoft YaHei"/>
              </a:rPr>
              <a:t>如图 4 所示，</a:t>
            </a:r>
            <a:r>
              <a:rPr sz="1600" b="1">
                <a:solidFill>
                  <a:srgbClr val="1A1A1A"/>
                </a:solidFill>
                <a:latin typeface="Microsoft YaHei"/>
              </a:rPr>
              <a:t>试样按 IPC-7351B 设计，黑阻焊增强红外吸收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FR4 基材 11×11×1.5 mm；焊盘 Ø400 µm、焊球 500 µm、ENIG 表面处理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黑色哑光阻焊比常规绿色吸收红外更好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制样：镶样 → 金相切片 → 选择性腐蚀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腐蚀液 94% C5H5OH + 4% HNO3 + 2% HCl，室温进行（IPC-TM-650）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选择性腐蚀让 IMC 界面层在断面显形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图例：黑色阻焊层 + 焊球阵列为明显特征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图意：焊球（500 µm）与焊盘（400 µm）的配合是界面层研究的对象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ENIG：化学镍金表面处理：镍磷层打底 + 浸金层，BGA 常见焊盘镀层</a:t>
            </a:r>
          </a:p>
        </p:txBody>
      </p:sp>
      <p:pic>
        <p:nvPicPr>
          <p:cNvPr id="4" name="Picture 3" descr="e4a47634629264b5f4146d165586d0279a54d4c77d111a4637294a47d812df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4480560" cy="3310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4727448"/>
            <a:ext cx="4480560" cy="2130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Dummy BGA 试样（已植焊球）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解读：试样设计（尺寸/焊盘/黑阻焊）直接决定红外吸收与界面反应条件——实验结果的前提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4, J. Electrical Engineering, 2018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界面层量化：MSL 平均厚度与 RMS 粗糙度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MSL：平均表面高度 = 界面面积 ÷ 长度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MSL = A/L：A 为 IMC 层面积、L 为其长度（式 2），得到 µm 级平均厚度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厚度与粗糙度两个独立指标，互为印证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Rrms：有效表面粗糙度，带镍层不平整修正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Rrms = √(ΣZi²/N)：Zi 为相对 MSL 的起伏（式 3），适合平面背衬层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粗糙度与 IMC 生长状态直接相关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ImageJ：开源图像分析软件，用于在显微照片上测量层厚与形貌参数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选择性腐蚀：用特定化学溶液只腐蚀部分组织，使 IMC 层在断面显微照片中凸显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EDS 元素分析：确认界面层成分分层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69494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如图 9 所示，</a:t>
            </a:r>
            <a:r>
              <a:rPr sz="1500" b="1">
                <a:solidFill>
                  <a:srgbClr val="1A1A1A"/>
                </a:solidFill>
                <a:latin typeface="Microsoft YaHei"/>
              </a:rPr>
              <a:t>EDS 证实界面由 Cu、Ni-P、IMC、焊料分层组成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· Tescan MIRA II 电镜集成 EDS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· 线扫方向沿黄色箭头（0 → 10.5 µm）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Cu / Ni / P / Sn 四元素沿扫描线分布清晰分层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坐标轴：(a) SEM 显微图，黄箭头为线扫方向；(b) EDX 线扫：横轴 0–10.5 µm、纵轴元素相对含量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图例：(b) 中各曲线对应 Cu / Ni / P / Sn 元素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图意：Cu 焊盘、Ni-P 层、IMC 层、焊料依次分布——分层结构明确</a:t>
            </a:r>
          </a:p>
        </p:txBody>
      </p:sp>
      <p:pic>
        <p:nvPicPr>
          <p:cNvPr id="4" name="Picture 3" descr="5dc22abc6dd5aae1741cc4b80015ace07bafac3eb47408d2da8fd1aa52e384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672382"/>
            <a:ext cx="3870655" cy="16021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1379774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(a)</a:t>
            </a:r>
          </a:p>
        </p:txBody>
      </p:sp>
      <p:pic>
        <p:nvPicPr>
          <p:cNvPr id="6" name="Picture 5" descr="83ad5f2ba4d3b9a6372353ff3f01fabec76b2f518b4b11578b60460514b958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573" y="3685032"/>
            <a:ext cx="2384309" cy="1618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15573" y="3392424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5349240"/>
            <a:ext cx="3870655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5A5A5A"/>
                </a:solidFill>
                <a:latin typeface="Microsoft YaHei"/>
              </a:rPr>
              <a:t>界面层 SEM 显微图与 EDX 线扫分析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Microsoft YaHei"/>
              </a:rPr>
              <a:t>(a) SEM 显微图（黄箭头为扫描方向）; (b) EDX 线扫元素分布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8B3A3A"/>
                </a:solidFill>
                <a:latin typeface="Microsoft YaHei"/>
              </a:rPr>
              <a:t>解读：成分分层验证了界面结构——后续测的厚度/粗糙度就是 IMC 层本身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9 (a–b), J. Electrical Engineering, 2018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结果①：Bottom IR 界面微观形貌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底部加热试样：界面处 Cu / IMC / Ni-P 层清晰，IMC 层薄而平滑——与定量结果一致</a:t>
            </a:r>
          </a:p>
        </p:txBody>
      </p:sp>
      <p:pic>
        <p:nvPicPr>
          <p:cNvPr id="4" name="Picture 3" descr="8fc0b5e6517827c43f5c13137e2d4f1663006d1611b7e1daa58125c19ea58e3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949440" cy="19140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514286"/>
            <a:ext cx="6949440" cy="33437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Bottom IR 试样焊料-焊盘界面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解读：微观形貌支持"底部加热 IMC 最薄最平滑"的定量结论——图证一致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5, J. Electrical Engineering, 2018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5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Bottom IR 界面 IMC 层薄而平滑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金相显微照片可见 Cu、IMC、Ni-P 分层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与 Top / Both 试样形貌对比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IMC 厚度 1.641 µm · Rrms 0.901 µm（均为三组最小）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图例：各层边界清晰可辨（自下而上：铜焊盘 / IMC 层 / 镍磷层 / 焊料）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图意：IMC 层薄且起伏小——与厚度/粗糙度定量结果吻合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金相切片：将焊点沿截面切开、研磨抛光后显微观察内部结构的制样方法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结果②：IMC 厚度——Bottom 1.641 µm 最小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底部加热 IMC 层最薄（1.641 µm）；顶部 2.715 µm、双侧 2.573 µm——热流方向显著改变界面层厚度</a:t>
            </a:r>
          </a:p>
        </p:txBody>
      </p:sp>
      <p:pic>
        <p:nvPicPr>
          <p:cNvPr id="4" name="Picture 3" descr="e3a88e229ae7835a0795f9cb03568e10cc595122692f2c9a94c0471edc04e70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472368" cy="40050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05272"/>
            <a:ext cx="5472368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三种加热方向的 IMC 层厚度对比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解读：厚度排序是全文核心定量证据——底部加热的工艺优势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10, J. Electrical Engineering, 2018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10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热流方向显著改变 IMC 层厚度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Bottom IR: 1.641 µm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Both IR: 2.573 µm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Top IR: 2.715 µm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Bottom &lt; Both &lt; Top —— 底部加热界面层最薄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坐标轴：横轴三种加热工况、纵轴 IMC 层平均厚度（µm）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图例：三根柱依次为 Bottom / Top / Both IR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图意：Bottom 最低、Top 最高、Both 接近 Top——方向效应明确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结果③：RMS 粗糙度——Bottom 0.901 µm 最小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粗糙度与厚度同趋势：Bottom IR 0.901 µm 最平滑，Top 1.296 µm、Both 1.628 µm</a:t>
            </a:r>
          </a:p>
        </p:txBody>
      </p:sp>
      <p:pic>
        <p:nvPicPr>
          <p:cNvPr id="4" name="Picture 3" descr="9f248685862e787d2343bdbb3127a4cda26c97b0e24e61cf680d909e938027c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443257" cy="40050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05272"/>
            <a:ext cx="5443257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三种加热方向的 IMC 层 RMS 粗糙度对比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解读：粗糙度确认 Bottom IR 界面质量最优——两个定量指标指向同一结论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11, J. Electrical Engineering, 2018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11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粗糙度与厚度趋势一致：Bottom 最平滑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Bottom IR: 0.901 µm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Top IR: 1.296 µm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Both IR: 1.628 µm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粗糙度排序：Bottom &lt; Top &lt; Both——两指标互相印证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坐标轴：横轴三种加热工况、纵轴 RMS 粗糙度（µm）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图例：三根柱依次为 Bottom / Top / Both IR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图意：Bottom 最平滑；粗糙度与厚度正相关——定量结论双重确认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[原文存疑]：正文粗糙度数值（0.901/1.296/1.628 µm）与图 11 内标注（0.988/1.730/1.921 µm）不一致——原文自身差异，本页以正文数值为准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讨论：为什么底部加热的界面层最薄？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测温点在顶部 → 顶部/双侧加热的热流强度被低估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三种曲线参数相同，但热电偶位置影响实际热流强度：实测温度 ≠ 供热量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顶部/双侧加热的焊球被直接辐射，实际热输入更高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热迁移：Cu 向热端、Sn 向冷端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焊球内温度梯度驱动元素定向迁移，界面反应随之改变 [9]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Bottom 加热经基板传导、焊球内梯度小 → IMC 生成弱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熔融焊料流动（Marangoni/自然对流）也参与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液体内流动促进 IMC 晶粒生长与剥落，但定量贡献未知 [16–18]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流场-界面反应耦合需进一步研究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Marangoni 效应：表面张力梯度驱动的液面流动，熔融焊料内会加剧物质输运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结论：热流方向是 BGA 再植球的决定性参数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Microsoft YaHei"/>
              </a:rPr>
              <a:t>Q: 热流方向对焊球界面层到底有什么影响？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5A5A5A"/>
                </a:solidFill>
                <a:latin typeface="Microsoft YaHei"/>
              </a:rPr>
              <a:t>Bottom IR：IMC 1.641 µm / Rrms 0.901 µm 全面最小；Top 与 Both 更厚更粗糙且统计相近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8B3A3A"/>
                </a:solidFill>
                <a:latin typeface="Microsoft YaHei"/>
              </a:rPr>
              <a:t>→ 再植球工艺应重视热流方向：底部加热的界面层质量最优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10642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测温点位置：传感器在 BGA 顶部：实测温度 ≠ 供热量，加热方向决定实际热流强度——测温位置是工艺关键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统计相近：论文对 Top 与 Both 的 IMC 厚度做统计显著性验证，两者可视为相似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